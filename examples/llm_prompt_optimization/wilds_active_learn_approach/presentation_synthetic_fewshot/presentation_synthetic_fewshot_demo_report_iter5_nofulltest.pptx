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8" r:id="rId5"/>
    <p:sldId id="266" r:id="rId6"/>
    <p:sldId id="259" r:id="rId7"/>
    <p:sldId id="260" r:id="rId8"/>
    <p:sldId id="267" r:id="rId9"/>
    <p:sldId id="261" r:id="rId10"/>
    <p:sldId id="262" r:id="rId11"/>
    <p:sldId id="263"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31" d="100"/>
          <a:sy n="131" d="100"/>
        </p:scale>
        <p:origin x="101" y="1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24"/>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377440"/>
            <a:ext cx="12191695" cy="4572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777240"/>
            <a:ext cx="10972800" cy="548640"/>
          </a:xfrm>
          <a:prstGeom prst="rect">
            <a:avLst/>
          </a:prstGeom>
          <a:noFill/>
        </p:spPr>
        <p:txBody>
          <a:bodyPr wrap="square" lIns="45720" tIns="18288" rIns="45720" bIns="18288">
            <a:spAutoFit/>
          </a:bodyPr>
          <a:lstStyle/>
          <a:p>
            <a:pPr algn="l"/>
            <a:r>
              <a:rPr sz="1400" b="0" i="1">
                <a:solidFill>
                  <a:srgbClr val="555555"/>
                </a:solidFill>
                <a:latin typeface="Calibri"/>
              </a:rPr>
              <a:t>Продвинутые методы ML — доклад по статье</a:t>
            </a:r>
          </a:p>
        </p:txBody>
      </p:sp>
      <p:sp>
        <p:nvSpPr>
          <p:cNvPr id="5" name="TextBox 4"/>
          <p:cNvSpPr txBox="1"/>
          <p:nvPr/>
        </p:nvSpPr>
        <p:spPr>
          <a:xfrm>
            <a:off x="640080" y="1325880"/>
            <a:ext cx="10972800" cy="960120"/>
          </a:xfrm>
          <a:prstGeom prst="rect">
            <a:avLst/>
          </a:prstGeom>
          <a:noFill/>
        </p:spPr>
        <p:txBody>
          <a:bodyPr wrap="square" lIns="45720" tIns="18288" rIns="45720" bIns="18288">
            <a:spAutoFit/>
          </a:bodyPr>
          <a:lstStyle/>
          <a:p>
            <a:pPr algn="l"/>
            <a:r>
              <a:rPr sz="3000" b="1" i="0">
                <a:solidFill>
                  <a:srgbClr val="102040"/>
                </a:solidFill>
                <a:latin typeface="Calibri"/>
              </a:rPr>
              <a:t>Синтетические boundary few-shot примеры</a:t>
            </a:r>
          </a:p>
          <a:p>
            <a:pPr algn="l"/>
            <a:r>
              <a:rPr sz="3000" b="1" i="0">
                <a:solidFill>
                  <a:srgbClr val="102040"/>
                </a:solidFill>
                <a:latin typeface="Calibri"/>
              </a:rPr>
              <a:t>в эволюционной оптимизации промптов</a:t>
            </a:r>
          </a:p>
        </p:txBody>
      </p:sp>
      <p:sp>
        <p:nvSpPr>
          <p:cNvPr id="6" name="TextBox 5"/>
          <p:cNvSpPr txBox="1"/>
          <p:nvPr/>
        </p:nvSpPr>
        <p:spPr>
          <a:xfrm>
            <a:off x="640080" y="2542032"/>
            <a:ext cx="10972800" cy="685800"/>
          </a:xfrm>
          <a:prstGeom prst="rect">
            <a:avLst/>
          </a:prstGeom>
          <a:noFill/>
        </p:spPr>
        <p:txBody>
          <a:bodyPr wrap="square" lIns="45720" tIns="18288" rIns="45720" bIns="18288">
            <a:spAutoFit/>
          </a:bodyPr>
          <a:lstStyle/>
          <a:p>
            <a:pPr algn="l"/>
            <a:r>
              <a:rPr sz="1500" b="0" i="0">
                <a:solidFill>
                  <a:srgbClr val="555555"/>
                </a:solidFill>
                <a:latin typeface="Calibri"/>
              </a:rPr>
              <a:t>По статье: Intent-based Prompt Calibration — Levi, Brosh, Friedmann</a:t>
            </a:r>
          </a:p>
          <a:p>
            <a:pPr algn="l"/>
            <a:r>
              <a:rPr sz="1500" b="0" i="0">
                <a:solidFill>
                  <a:srgbClr val="555555"/>
                </a:solidFill>
                <a:latin typeface="Calibri"/>
              </a:rPr>
              <a:t>arXiv:2402.03099 [cs.CL] (5 Feb 2024); код: github.com/Eladlev/AutoPrompt</a:t>
            </a:r>
          </a:p>
        </p:txBody>
      </p:sp>
      <p:sp>
        <p:nvSpPr>
          <p:cNvPr id="7" name="TextBox 6"/>
          <p:cNvSpPr txBox="1"/>
          <p:nvPr/>
        </p:nvSpPr>
        <p:spPr>
          <a:xfrm>
            <a:off x="609447" y="3554048"/>
            <a:ext cx="10972800" cy="298543"/>
          </a:xfrm>
          <a:prstGeom prst="rect">
            <a:avLst/>
          </a:prstGeom>
          <a:noFill/>
        </p:spPr>
        <p:txBody>
          <a:bodyPr wrap="square" lIns="45720" tIns="18288" rIns="45720" bIns="18288">
            <a:spAutoFit/>
          </a:bodyPr>
          <a:lstStyle/>
          <a:p>
            <a:pPr algn="l"/>
            <a:r>
              <a:rPr sz="1700" b="0" i="0" dirty="0" err="1">
                <a:solidFill>
                  <a:srgbClr val="202020"/>
                </a:solidFill>
                <a:latin typeface="Calibri"/>
              </a:rPr>
              <a:t>Андрей</a:t>
            </a:r>
            <a:r>
              <a:rPr sz="1700" b="0" i="0" dirty="0">
                <a:solidFill>
                  <a:srgbClr val="202020"/>
                </a:solidFill>
                <a:latin typeface="Calibri"/>
              </a:rPr>
              <a:t> </a:t>
            </a:r>
            <a:r>
              <a:rPr sz="1700" b="0" i="0" dirty="0" err="1">
                <a:solidFill>
                  <a:srgbClr val="202020"/>
                </a:solidFill>
                <a:latin typeface="Calibri"/>
              </a:rPr>
              <a:t>Марченко</a:t>
            </a:r>
            <a:endParaRPr sz="1700" b="0" i="0" dirty="0">
              <a:solidFill>
                <a:srgbClr val="202020"/>
              </a:solidFill>
              <a:latin typeface="Calibri"/>
            </a:endParaRPr>
          </a:p>
        </p:txBody>
      </p:sp>
      <p:sp>
        <p:nvSpPr>
          <p:cNvPr id="9" name="TextBox 8"/>
          <p:cNvSpPr txBox="1"/>
          <p:nvPr/>
        </p:nvSpPr>
        <p:spPr>
          <a:xfrm>
            <a:off x="640080" y="5989320"/>
            <a:ext cx="10972800" cy="365760"/>
          </a:xfrm>
          <a:prstGeom prst="rect">
            <a:avLst/>
          </a:prstGeom>
          <a:noFill/>
        </p:spPr>
        <p:txBody>
          <a:bodyPr wrap="square" lIns="45720" tIns="18288" rIns="45720" bIns="18288">
            <a:spAutoFit/>
          </a:bodyPr>
          <a:lstStyle/>
          <a:p>
            <a:pPr algn="l"/>
            <a:r>
              <a:rPr sz="1400" b="0" i="0">
                <a:solidFill>
                  <a:srgbClr val="555555"/>
                </a:solidFill>
                <a:latin typeface="Calibri"/>
              </a:rPr>
              <a:t>Весна 2026</a:t>
            </a:r>
          </a:p>
        </p:txBody>
      </p:sp>
      <p:sp>
        <p:nvSpPr>
          <p:cNvPr id="10" name="Rectangle 9"/>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2" name="TextBox 11"/>
          <p:cNvSpPr txBox="1"/>
          <p:nvPr/>
        </p:nvSpPr>
        <p:spPr>
          <a:xfrm>
            <a:off x="11247120" y="6601968"/>
            <a:ext cx="914400" cy="190821"/>
          </a:xfrm>
          <a:prstGeom prst="rect">
            <a:avLst/>
          </a:prstGeom>
          <a:noFill/>
        </p:spPr>
        <p:txBody>
          <a:bodyPr wrap="square" lIns="45720" tIns="18288" rIns="45720" bIns="18288">
            <a:spAutoFit/>
          </a:bodyPr>
          <a:lstStyle/>
          <a:p>
            <a:pPr algn="r"/>
            <a:r>
              <a:rPr sz="1000" b="0" i="0" dirty="0">
                <a:solidFill>
                  <a:srgbClr val="FFFFFF"/>
                </a:solidFill>
                <a:latin typeface="Calibri"/>
              </a:rPr>
              <a:t>1 / </a:t>
            </a:r>
            <a:r>
              <a:rPr lang="en-US" sz="1000" b="0" i="0" dirty="0">
                <a:solidFill>
                  <a:srgbClr val="FFFFFF"/>
                </a:solidFill>
                <a:latin typeface="Calibri"/>
              </a:rPr>
              <a:t>13</a:t>
            </a:r>
            <a:endParaRPr sz="1000" b="0" i="0" dirty="0">
              <a:solidFill>
                <a:srgbClr val="FFFFFF"/>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430000" cy="502920"/>
          </a:xfrm>
          <a:prstGeom prst="rect">
            <a:avLst/>
          </a:prstGeom>
          <a:noFill/>
        </p:spPr>
        <p:txBody>
          <a:bodyPr wrap="square" lIns="45720" tIns="18288" rIns="45720" bIns="18288">
            <a:spAutoFit/>
          </a:bodyPr>
          <a:lstStyle/>
          <a:p>
            <a:pPr algn="l"/>
            <a:r>
              <a:rPr sz="2800" b="1" i="0">
                <a:solidFill>
                  <a:srgbClr val="102040"/>
                </a:solidFill>
                <a:latin typeface="Calibri"/>
              </a:rPr>
              <a:t>Введение</a:t>
            </a:r>
          </a:p>
        </p:txBody>
      </p:sp>
      <p:sp>
        <p:nvSpPr>
          <p:cNvPr id="3" name="Rectangle 2"/>
          <p:cNvSpPr/>
          <p:nvPr/>
        </p:nvSpPr>
        <p:spPr>
          <a:xfrm>
            <a:off x="457200" y="804672"/>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0"/>
            <a:ext cx="11430000" cy="411480"/>
          </a:xfrm>
          <a:prstGeom prst="rect">
            <a:avLst/>
          </a:prstGeom>
          <a:noFill/>
        </p:spPr>
        <p:txBody>
          <a:bodyPr wrap="square" lIns="45720" tIns="18288" rIns="45720" bIns="18288">
            <a:spAutoFit/>
          </a:bodyPr>
          <a:lstStyle/>
          <a:p>
            <a:pPr algn="l"/>
            <a:r>
              <a:rPr sz="1700" b="1" i="0">
                <a:solidFill>
                  <a:srgbClr val="1F77B4"/>
                </a:solidFill>
                <a:latin typeface="Calibri"/>
              </a:rPr>
              <a:t>Проблема</a:t>
            </a:r>
          </a:p>
        </p:txBody>
      </p:sp>
      <p:sp>
        <p:nvSpPr>
          <p:cNvPr id="5" name="TextBox 4"/>
          <p:cNvSpPr txBox="1"/>
          <p:nvPr/>
        </p:nvSpPr>
        <p:spPr>
          <a:xfrm>
            <a:off x="457200" y="1325880"/>
            <a:ext cx="11430000" cy="1417320"/>
          </a:xfrm>
          <a:prstGeom prst="rect">
            <a:avLst/>
          </a:prstGeom>
          <a:noFill/>
        </p:spPr>
        <p:txBody>
          <a:bodyPr wrap="square">
            <a:spAutoFit/>
          </a:bodyPr>
          <a:lstStyle/>
          <a:p>
            <a:pPr algn="l">
              <a:spcAft>
                <a:spcPts val="400"/>
              </a:spcAft>
            </a:pPr>
            <a:r>
              <a:rPr sz="1300">
                <a:solidFill>
                  <a:srgbClr val="202020"/>
                </a:solidFill>
                <a:latin typeface="Calibri"/>
              </a:rPr>
              <a:t>•  Автоматический prompt-engineering часто трактует LLM как «чёрный ящик» и не объясняет причины ошибок.</a:t>
            </a:r>
          </a:p>
          <a:p>
            <a:pPr algn="l">
              <a:spcAft>
                <a:spcPts val="400"/>
              </a:spcAft>
            </a:pPr>
            <a:r>
              <a:rPr sz="1300">
                <a:solidFill>
                  <a:srgbClr val="202020"/>
                </a:solidFill>
                <a:latin typeface="Calibri"/>
              </a:rPr>
              <a:t>•  В реальных данных редко есть идеальные контрастные примеры на границе классов (например, 4★ vs 5★ с одним явным отличием).</a:t>
            </a:r>
          </a:p>
          <a:p>
            <a:pPr algn="l">
              <a:spcAft>
                <a:spcPts val="400"/>
              </a:spcAft>
            </a:pPr>
            <a:r>
              <a:rPr sz="1300">
                <a:solidFill>
                  <a:srgbClr val="202020"/>
                </a:solidFill>
                <a:latin typeface="Calibri"/>
              </a:rPr>
              <a:t>•  Агрегированные метрики маскируют провалы на трудных подгруппах пользователей.</a:t>
            </a:r>
          </a:p>
        </p:txBody>
      </p:sp>
      <p:sp>
        <p:nvSpPr>
          <p:cNvPr id="6" name="TextBox 5"/>
          <p:cNvSpPr txBox="1"/>
          <p:nvPr/>
        </p:nvSpPr>
        <p:spPr>
          <a:xfrm>
            <a:off x="457200" y="2880360"/>
            <a:ext cx="11430000" cy="411480"/>
          </a:xfrm>
          <a:prstGeom prst="rect">
            <a:avLst/>
          </a:prstGeom>
          <a:noFill/>
        </p:spPr>
        <p:txBody>
          <a:bodyPr wrap="square" lIns="45720" tIns="18288" rIns="45720" bIns="18288">
            <a:spAutoFit/>
          </a:bodyPr>
          <a:lstStyle/>
          <a:p>
            <a:pPr algn="l"/>
            <a:r>
              <a:rPr sz="1700" b="1" i="0">
                <a:solidFill>
                  <a:srgbClr val="1F77B4"/>
                </a:solidFill>
                <a:latin typeface="Calibri"/>
              </a:rPr>
              <a:t>Актуальность</a:t>
            </a:r>
          </a:p>
        </p:txBody>
      </p:sp>
      <p:sp>
        <p:nvSpPr>
          <p:cNvPr id="7" name="TextBox 6"/>
          <p:cNvSpPr txBox="1"/>
          <p:nvPr/>
        </p:nvSpPr>
        <p:spPr>
          <a:xfrm>
            <a:off x="457200" y="3273552"/>
            <a:ext cx="11430000" cy="1325880"/>
          </a:xfrm>
          <a:prstGeom prst="rect">
            <a:avLst/>
          </a:prstGeom>
          <a:noFill/>
        </p:spPr>
        <p:txBody>
          <a:bodyPr wrap="square">
            <a:spAutoFit/>
          </a:bodyPr>
          <a:lstStyle/>
          <a:p>
            <a:pPr algn="l">
              <a:spcAft>
                <a:spcPts val="400"/>
              </a:spcAft>
            </a:pPr>
            <a:r>
              <a:rPr sz="1300">
                <a:solidFill>
                  <a:srgbClr val="202020"/>
                </a:solidFill>
                <a:latin typeface="Calibri"/>
              </a:rPr>
              <a:t>•  Задача: классификация отзывов Amazon 1–5★ (WILDS), сдвиг по пользователям/поддоменам.</a:t>
            </a:r>
          </a:p>
          <a:p>
            <a:pPr algn="l">
              <a:spcAft>
                <a:spcPts val="400"/>
              </a:spcAft>
            </a:pPr>
            <a:r>
              <a:rPr sz="1300">
                <a:solidFill>
                  <a:srgbClr val="202020"/>
                </a:solidFill>
                <a:latin typeface="Calibri"/>
              </a:rPr>
              <a:t>•  Целевая метрика: R_worst — точность на 10% худших пользователей.</a:t>
            </a:r>
          </a:p>
          <a:p>
            <a:pPr algn="l">
              <a:spcAft>
                <a:spcPts val="400"/>
              </a:spcAft>
            </a:pPr>
            <a:r>
              <a:rPr sz="1300">
                <a:solidFill>
                  <a:srgbClr val="202020"/>
                </a:solidFill>
                <a:latin typeface="Calibri"/>
              </a:rPr>
              <a:t>•  Промпт крайне чувствителен: мелкие правки сдвигают R_worst на порядка 5–15 п.п.</a:t>
            </a:r>
          </a:p>
        </p:txBody>
      </p:sp>
      <p:sp>
        <p:nvSpPr>
          <p:cNvPr id="8" name="TextBox 7"/>
          <p:cNvSpPr txBox="1"/>
          <p:nvPr/>
        </p:nvSpPr>
        <p:spPr>
          <a:xfrm>
            <a:off x="457200" y="4709160"/>
            <a:ext cx="11430000" cy="411480"/>
          </a:xfrm>
          <a:prstGeom prst="rect">
            <a:avLst/>
          </a:prstGeom>
          <a:noFill/>
        </p:spPr>
        <p:txBody>
          <a:bodyPr wrap="square" lIns="45720" tIns="18288" rIns="45720" bIns="18288">
            <a:spAutoFit/>
          </a:bodyPr>
          <a:lstStyle/>
          <a:p>
            <a:pPr algn="l"/>
            <a:r>
              <a:rPr sz="1700" b="1" i="0">
                <a:solidFill>
                  <a:srgbClr val="1F77B4"/>
                </a:solidFill>
                <a:latin typeface="Calibri"/>
              </a:rPr>
              <a:t>Цель собственной работы</a:t>
            </a:r>
          </a:p>
        </p:txBody>
      </p:sp>
      <p:sp>
        <p:nvSpPr>
          <p:cNvPr id="9" name="TextBox 8"/>
          <p:cNvSpPr txBox="1"/>
          <p:nvPr/>
        </p:nvSpPr>
        <p:spPr>
          <a:xfrm>
            <a:off x="457200" y="5102352"/>
            <a:ext cx="11430000" cy="1143000"/>
          </a:xfrm>
          <a:prstGeom prst="rect">
            <a:avLst/>
          </a:prstGeom>
          <a:noFill/>
        </p:spPr>
        <p:txBody>
          <a:bodyPr wrap="square">
            <a:spAutoFit/>
          </a:bodyPr>
          <a:lstStyle/>
          <a:p>
            <a:pPr algn="l">
              <a:spcAft>
                <a:spcPts val="400"/>
              </a:spcAft>
            </a:pPr>
            <a:r>
              <a:rPr sz="1300">
                <a:solidFill>
                  <a:srgbClr val="202020"/>
                </a:solidFill>
                <a:latin typeface="Calibri"/>
              </a:rPr>
              <a:t>•  Перенести идею boundary cases из IPC в few-shot демонстрации внутри промпта — генерация и отбор полностью автоматически в цикле активного обучения.</a:t>
            </a:r>
          </a:p>
          <a:p>
            <a:pPr algn="l">
              <a:spcAft>
                <a:spcPts val="400"/>
              </a:spcAft>
            </a:pPr>
            <a:r>
              <a:rPr sz="1300">
                <a:solidFill>
                  <a:srgbClr val="202020"/>
                </a:solidFill>
                <a:latin typeface="Calibri"/>
              </a:rPr>
              <a:t>•  Оценить влияние на R_worst при сопоставимых no-synth абляциях.</a:t>
            </a:r>
          </a:p>
        </p:txBody>
      </p:sp>
      <p:sp>
        <p:nvSpPr>
          <p:cNvPr id="10" name="Rectangle 9"/>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2" name="TextBox 11"/>
          <p:cNvSpPr txBox="1"/>
          <p:nvPr/>
        </p:nvSpPr>
        <p:spPr>
          <a:xfrm>
            <a:off x="11247120" y="6601968"/>
            <a:ext cx="914400" cy="190821"/>
          </a:xfrm>
          <a:prstGeom prst="rect">
            <a:avLst/>
          </a:prstGeom>
          <a:noFill/>
        </p:spPr>
        <p:txBody>
          <a:bodyPr wrap="square" lIns="45720" tIns="18288" rIns="45720" bIns="18288">
            <a:spAutoFit/>
          </a:bodyPr>
          <a:lstStyle/>
          <a:p>
            <a:pPr algn="r"/>
            <a:r>
              <a:rPr sz="1000" b="0" i="0" dirty="0">
                <a:solidFill>
                  <a:srgbClr val="FFFFFF"/>
                </a:solidFill>
                <a:latin typeface="Calibri"/>
              </a:rPr>
              <a:t>2 / </a:t>
            </a:r>
            <a:r>
              <a:rPr lang="en-US" sz="1000" b="0" i="0" dirty="0">
                <a:solidFill>
                  <a:srgbClr val="FFFFFF"/>
                </a:solidFill>
                <a:latin typeface="Calibri"/>
              </a:rPr>
              <a:t>13</a:t>
            </a:r>
            <a:endParaRPr sz="1000" b="0" i="0" dirty="0">
              <a:solidFill>
                <a:srgbClr val="FFFFFF"/>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11430000" cy="502920"/>
          </a:xfrm>
          <a:prstGeom prst="rect">
            <a:avLst/>
          </a:prstGeom>
          <a:noFill/>
        </p:spPr>
        <p:txBody>
          <a:bodyPr wrap="square" lIns="45720" tIns="18288" rIns="45720" bIns="18288">
            <a:spAutoFit/>
          </a:bodyPr>
          <a:lstStyle/>
          <a:p>
            <a:pPr algn="l"/>
            <a:r>
              <a:rPr sz="2200" b="1" i="0">
                <a:solidFill>
                  <a:srgbClr val="102040"/>
                </a:solidFill>
                <a:latin typeface="Calibri"/>
              </a:rPr>
              <a:t>Обзор статьи — IPC (Intent-based Prompt Calibration)</a:t>
            </a:r>
          </a:p>
        </p:txBody>
      </p:sp>
      <p:sp>
        <p:nvSpPr>
          <p:cNvPr id="3" name="Rectangle 2"/>
          <p:cNvSpPr/>
          <p:nvPr/>
        </p:nvSpPr>
        <p:spPr>
          <a:xfrm>
            <a:off x="457200" y="749808"/>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 y="896112"/>
            <a:ext cx="3611880" cy="36576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84632" y="932688"/>
            <a:ext cx="3611880" cy="320040"/>
          </a:xfrm>
          <a:prstGeom prst="rect">
            <a:avLst/>
          </a:prstGeom>
          <a:noFill/>
        </p:spPr>
        <p:txBody>
          <a:bodyPr wrap="square" lIns="45720" tIns="18288" rIns="45720" bIns="18288">
            <a:spAutoFit/>
          </a:bodyPr>
          <a:lstStyle/>
          <a:p>
            <a:pPr algn="l"/>
            <a:r>
              <a:rPr sz="1400" b="1" i="0">
                <a:solidFill>
                  <a:srgbClr val="102040"/>
                </a:solidFill>
                <a:latin typeface="Calibri"/>
              </a:rPr>
              <a:t>Вклад метода</a:t>
            </a:r>
          </a:p>
        </p:txBody>
      </p:sp>
      <p:sp>
        <p:nvSpPr>
          <p:cNvPr id="6" name="Rectangle 5"/>
          <p:cNvSpPr/>
          <p:nvPr/>
        </p:nvSpPr>
        <p:spPr>
          <a:xfrm>
            <a:off x="4069080" y="896112"/>
            <a:ext cx="3611880" cy="36576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42232" y="932688"/>
            <a:ext cx="3611880" cy="320040"/>
          </a:xfrm>
          <a:prstGeom prst="rect">
            <a:avLst/>
          </a:prstGeom>
          <a:noFill/>
        </p:spPr>
        <p:txBody>
          <a:bodyPr wrap="square" lIns="45720" tIns="18288" rIns="45720" bIns="18288">
            <a:spAutoFit/>
          </a:bodyPr>
          <a:lstStyle/>
          <a:p>
            <a:pPr algn="l"/>
            <a:r>
              <a:rPr sz="1400" b="1" i="0">
                <a:solidFill>
                  <a:srgbClr val="102040"/>
                </a:solidFill>
                <a:latin typeface="Calibri"/>
              </a:rPr>
              <a:t>Механизм (цикл)</a:t>
            </a:r>
          </a:p>
        </p:txBody>
      </p:sp>
      <p:sp>
        <p:nvSpPr>
          <p:cNvPr id="8" name="Rectangle 7"/>
          <p:cNvSpPr/>
          <p:nvPr/>
        </p:nvSpPr>
        <p:spPr>
          <a:xfrm>
            <a:off x="7726679" y="896112"/>
            <a:ext cx="3611880" cy="36576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99831" y="932688"/>
            <a:ext cx="3611880" cy="320040"/>
          </a:xfrm>
          <a:prstGeom prst="rect">
            <a:avLst/>
          </a:prstGeom>
          <a:noFill/>
        </p:spPr>
        <p:txBody>
          <a:bodyPr wrap="square" lIns="45720" tIns="18288" rIns="45720" bIns="18288">
            <a:spAutoFit/>
          </a:bodyPr>
          <a:lstStyle/>
          <a:p>
            <a:pPr algn="l"/>
            <a:r>
              <a:rPr sz="1400" b="1" i="0">
                <a:solidFill>
                  <a:srgbClr val="102040"/>
                </a:solidFill>
                <a:latin typeface="Calibri"/>
              </a:rPr>
              <a:t>Итоги экспериментов авторов</a:t>
            </a:r>
          </a:p>
        </p:txBody>
      </p:sp>
      <p:sp>
        <p:nvSpPr>
          <p:cNvPr id="10" name="TextBox 9"/>
          <p:cNvSpPr txBox="1"/>
          <p:nvPr/>
        </p:nvSpPr>
        <p:spPr>
          <a:xfrm>
            <a:off x="438912" y="1325880"/>
            <a:ext cx="3611880" cy="3977639"/>
          </a:xfrm>
          <a:prstGeom prst="rect">
            <a:avLst/>
          </a:prstGeom>
          <a:noFill/>
        </p:spPr>
        <p:txBody>
          <a:bodyPr wrap="square">
            <a:spAutoFit/>
          </a:bodyPr>
          <a:lstStyle/>
          <a:p>
            <a:pPr algn="l">
              <a:spcAft>
                <a:spcPts val="400"/>
              </a:spcAft>
            </a:pPr>
            <a:r>
              <a:rPr sz="1000">
                <a:solidFill>
                  <a:srgbClr val="202020"/>
                </a:solidFill>
                <a:latin typeface="Calibri"/>
              </a:rPr>
              <a:t>•  IPC калибрует промпт под намерение пользователя, строя маленький «бенчмарк» из синтетических граничных случаев.</a:t>
            </a:r>
          </a:p>
          <a:p>
            <a:pPr algn="l">
              <a:spcAft>
                <a:spcPts val="400"/>
              </a:spcAft>
            </a:pPr>
            <a:r>
              <a:rPr sz="1000">
                <a:solidFill>
                  <a:srgbClr val="202020"/>
                </a:solidFill>
                <a:latin typeface="Calibri"/>
              </a:rPr>
              <a:t>•  Совместно улучшаются промпт и набор сложных примеров; конвейер модульный.</a:t>
            </a:r>
          </a:p>
          <a:p>
            <a:pPr algn="l">
              <a:spcAft>
                <a:spcPts val="400"/>
              </a:spcAft>
            </a:pPr>
            <a:r>
              <a:rPr sz="1000">
                <a:solidFill>
                  <a:srgbClr val="202020"/>
                </a:solidFill>
                <a:latin typeface="Calibri"/>
              </a:rPr>
              <a:t>•  Ориентация на реальные сценарии (модерация, дисбаланс классов) и расширение на генерацию через ranker.</a:t>
            </a:r>
          </a:p>
        </p:txBody>
      </p:sp>
      <p:sp>
        <p:nvSpPr>
          <p:cNvPr id="11" name="TextBox 10"/>
          <p:cNvSpPr txBox="1"/>
          <p:nvPr/>
        </p:nvSpPr>
        <p:spPr>
          <a:xfrm>
            <a:off x="4096512" y="1325880"/>
            <a:ext cx="3611880" cy="3977639"/>
          </a:xfrm>
          <a:prstGeom prst="rect">
            <a:avLst/>
          </a:prstGeom>
          <a:noFill/>
        </p:spPr>
        <p:txBody>
          <a:bodyPr wrap="square">
            <a:spAutoFit/>
          </a:bodyPr>
          <a:lstStyle/>
          <a:p>
            <a:pPr algn="l">
              <a:spcAft>
                <a:spcPts val="400"/>
              </a:spcAft>
            </a:pPr>
            <a:r>
              <a:rPr sz="1000">
                <a:solidFill>
                  <a:srgbClr val="202020"/>
                </a:solidFill>
                <a:latin typeface="Calibri"/>
              </a:rPr>
              <a:t>•  1) Генератор boundary-примеров (meta-prompt).</a:t>
            </a:r>
          </a:p>
          <a:p>
            <a:pPr algn="l">
              <a:spcAft>
                <a:spcPts val="400"/>
              </a:spcAft>
            </a:pPr>
            <a:r>
              <a:rPr sz="1000">
                <a:solidFill>
                  <a:srgbClr val="202020"/>
                </a:solidFill>
                <a:latin typeface="Calibri"/>
              </a:rPr>
              <a:t>•  2) Оценка промпта на сгенерированных данных; анализ ошибок (confusion matrix) — Analyzer.</a:t>
            </a:r>
          </a:p>
          <a:p>
            <a:pPr algn="l">
              <a:spcAft>
                <a:spcPts val="400"/>
              </a:spcAft>
            </a:pPr>
            <a:r>
              <a:rPr sz="1000">
                <a:solidFill>
                  <a:srgbClr val="202020"/>
                </a:solidFill>
                <a:latin typeface="Calibri"/>
              </a:rPr>
              <a:t>•  3) Генератор нового промпта по истории оценок и анализу.</a:t>
            </a:r>
          </a:p>
          <a:p>
            <a:pPr algn="l">
              <a:spcAft>
                <a:spcPts val="400"/>
              </a:spcAft>
            </a:pPr>
            <a:r>
              <a:rPr sz="1000">
                <a:solidFill>
                  <a:srgbClr val="202020"/>
                </a:solidFill>
                <a:latin typeface="Calibri"/>
              </a:rPr>
              <a:t>•  4) Повтор до стагнации или лимита итераций/стоимости.</a:t>
            </a:r>
          </a:p>
          <a:p>
            <a:pPr algn="l">
              <a:spcAft>
                <a:spcPts val="400"/>
              </a:spcAft>
            </a:pPr>
            <a:r>
              <a:rPr sz="1000">
                <a:solidFill>
                  <a:srgbClr val="202020"/>
                </a:solidFill>
                <a:latin typeface="Calibri"/>
              </a:rPr>
              <a:t>•  Разметка: человек (Argilla) или LLM-estimator.</a:t>
            </a:r>
          </a:p>
        </p:txBody>
      </p:sp>
      <p:sp>
        <p:nvSpPr>
          <p:cNvPr id="12" name="TextBox 11"/>
          <p:cNvSpPr txBox="1"/>
          <p:nvPr/>
        </p:nvSpPr>
        <p:spPr>
          <a:xfrm>
            <a:off x="7754111" y="1325880"/>
            <a:ext cx="3611880" cy="3977639"/>
          </a:xfrm>
          <a:prstGeom prst="rect">
            <a:avLst/>
          </a:prstGeom>
          <a:noFill/>
        </p:spPr>
        <p:txBody>
          <a:bodyPr wrap="square">
            <a:spAutoFit/>
          </a:bodyPr>
          <a:lstStyle/>
          <a:p>
            <a:pPr algn="l">
              <a:spcAft>
                <a:spcPts val="400"/>
              </a:spcAft>
            </a:pPr>
            <a:r>
              <a:rPr sz="900" b="1">
                <a:solidFill>
                  <a:srgbClr val="202020"/>
                </a:solidFill>
                <a:latin typeface="Calibri"/>
              </a:rPr>
              <a:t>•  Модели и данные:</a:t>
            </a:r>
            <a:r>
              <a:rPr sz="900">
                <a:solidFill>
                  <a:srgbClr val="202020"/>
                </a:solidFill>
                <a:latin typeface="Calibri"/>
              </a:rPr>
              <a:t>  GPT-3.5/4-Turbo; отзывы IMDB как основа.</a:t>
            </a:r>
          </a:p>
          <a:p>
            <a:pPr algn="l">
              <a:spcAft>
                <a:spcPts val="400"/>
              </a:spcAft>
            </a:pPr>
            <a:r>
              <a:rPr sz="900" b="1">
                <a:solidFill>
                  <a:srgbClr val="202020"/>
                </a:solidFill>
                <a:latin typeface="Calibri"/>
              </a:rPr>
              <a:t>•  Классификация:</a:t>
            </a:r>
            <a:r>
              <a:rPr sz="900">
                <a:solidFill>
                  <a:srgbClr val="202020"/>
                </a:solidFill>
                <a:latin typeface="Calibri"/>
              </a:rPr>
              <a:t>  3 бинарные задачи (спойлеры, тональность, PG); сравнение с OPRO и PE; 50 шагов; у IPC — 10 стартовых примеров + синтетика, у бейзлайнов — выборки IMDB. IPC выше по точности и с меньшей дисперсией (рис. 3, 7); на синт. тесте тональности (300 примеров) разрыв сильнее (рис. 6).</a:t>
            </a:r>
          </a:p>
          <a:p>
            <a:pPr algn="l">
              <a:spcAft>
                <a:spcPts val="400"/>
              </a:spcAft>
            </a:pPr>
            <a:r>
              <a:rPr sz="900" b="1">
                <a:solidFill>
                  <a:srgbClr val="202020"/>
                </a:solidFill>
                <a:latin typeface="Calibri"/>
              </a:rPr>
              <a:t>•  Генерация:</a:t>
            </a:r>
            <a:r>
              <a:rPr sz="900">
                <a:solidFill>
                  <a:srgbClr val="202020"/>
                </a:solidFill>
                <a:latin typeface="Calibri"/>
              </a:rPr>
              <a:t>  два неоднозначных сценария отзывов; сначала калибруется ranker (50 разметок), затем промпт генерации; 30 итераций ranker+генератор. Средний балл ranker (табл. 2 в arXiv, GPT-4 Turbo): «энтузиазм и достоверность» — IPC 4.80±0.10 vs initial 4.40±0.05; «сарказм, но позитив» — IPC 4.92±0.07 vs 4.28±0.02; у части бейзлайнов хуже даже initial prompt из-за дисбаланса реальных рангов (рис. 4).</a:t>
            </a:r>
          </a:p>
          <a:p>
            <a:pPr algn="l">
              <a:spcAft>
                <a:spcPts val="400"/>
              </a:spcAft>
            </a:pPr>
            <a:r>
              <a:rPr sz="900" b="1">
                <a:solidFill>
                  <a:srgbClr val="202020"/>
                </a:solidFill>
                <a:latin typeface="Calibri"/>
              </a:rPr>
              <a:t>•  Абляция (§3.3, Tab. 2):</a:t>
            </a:r>
            <a:r>
              <a:rPr sz="900">
                <a:solidFill>
                  <a:srgbClr val="202020"/>
                </a:solidFill>
                <a:latin typeface="Calibri"/>
              </a:rPr>
              <a:t>  синтетические данные усиливают качество; компонент Analyzer даёт существенный прирост (вопреки выводу OPRO о бесполезности явного списка ошибок в meta-prompt).</a:t>
            </a:r>
          </a:p>
        </p:txBody>
      </p:sp>
      <p:sp>
        <p:nvSpPr>
          <p:cNvPr id="13" name="Rectangle 12"/>
          <p:cNvSpPr/>
          <p:nvPr/>
        </p:nvSpPr>
        <p:spPr>
          <a:xfrm>
            <a:off x="457200" y="5440680"/>
            <a:ext cx="11430000" cy="86868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5719572"/>
            <a:ext cx="11247120" cy="777240"/>
          </a:xfrm>
          <a:prstGeom prst="rect">
            <a:avLst/>
          </a:prstGeom>
          <a:noFill/>
        </p:spPr>
        <p:txBody>
          <a:bodyPr wrap="square" lIns="45720" tIns="18288" rIns="45720" bIns="18288">
            <a:spAutoFit/>
          </a:bodyPr>
          <a:lstStyle/>
          <a:p>
            <a:pPr algn="l"/>
            <a:r>
              <a:rPr sz="1100" b="0" i="1">
                <a:solidFill>
                  <a:srgbClr val="102040"/>
                </a:solidFill>
                <a:latin typeface="Calibri"/>
              </a:rPr>
              <a:t>Вывод для моей работы: синтетика на границах — сильный сигнал для калибровки; в IPC она живёт в контуре оценки и часто опирается на человека или отдельный estimator. Я переношу идею в контур самого промпта (few-shot) и убираю human-in-the-loop, отдавая отбор MAP-Elites + val.</a:t>
            </a:r>
          </a:p>
        </p:txBody>
      </p:sp>
      <p:sp>
        <p:nvSpPr>
          <p:cNvPr id="15" name="Rectangle 14"/>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7" name="TextBox 16"/>
          <p:cNvSpPr txBox="1"/>
          <p:nvPr/>
        </p:nvSpPr>
        <p:spPr>
          <a:xfrm>
            <a:off x="11247120" y="6601968"/>
            <a:ext cx="914400" cy="190821"/>
          </a:xfrm>
          <a:prstGeom prst="rect">
            <a:avLst/>
          </a:prstGeom>
          <a:noFill/>
        </p:spPr>
        <p:txBody>
          <a:bodyPr wrap="square" lIns="45720" tIns="18288" rIns="45720" bIns="18288">
            <a:spAutoFit/>
          </a:bodyPr>
          <a:lstStyle/>
          <a:p>
            <a:pPr algn="r"/>
            <a:r>
              <a:rPr sz="1000" b="0" i="0" dirty="0">
                <a:solidFill>
                  <a:srgbClr val="FFFFFF"/>
                </a:solidFill>
                <a:latin typeface="Calibri"/>
              </a:rPr>
              <a:t>3 / </a:t>
            </a:r>
            <a:r>
              <a:rPr lang="en-US" sz="1000" b="0" i="0" dirty="0">
                <a:solidFill>
                  <a:srgbClr val="FFFFFF"/>
                </a:solidFill>
                <a:latin typeface="Calibri"/>
              </a:rPr>
              <a:t>13</a:t>
            </a:r>
            <a:endParaRPr sz="1000" b="0" i="0" dirty="0">
              <a:solidFill>
                <a:srgbClr val="FFFFFF"/>
              </a:solidFill>
              <a:latin typeface="Calibri"/>
            </a:endParaRPr>
          </a:p>
        </p:txBody>
      </p:sp>
      <p:pic>
        <p:nvPicPr>
          <p:cNvPr id="19" name="Рисунок 18">
            <a:extLst>
              <a:ext uri="{FF2B5EF4-FFF2-40B4-BE49-F238E27FC236}">
                <a16:creationId xmlns:a16="http://schemas.microsoft.com/office/drawing/2014/main" id="{00B21CAD-EF1E-4E6B-9E5A-E8700C68583E}"/>
              </a:ext>
            </a:extLst>
          </p:cNvPr>
          <p:cNvPicPr>
            <a:picLocks noChangeAspect="1"/>
          </p:cNvPicPr>
          <p:nvPr/>
        </p:nvPicPr>
        <p:blipFill>
          <a:blip r:embed="rId2"/>
          <a:stretch>
            <a:fillRect/>
          </a:stretch>
        </p:blipFill>
        <p:spPr>
          <a:xfrm>
            <a:off x="935116" y="2676761"/>
            <a:ext cx="5160731" cy="27547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11430000" cy="502920"/>
          </a:xfrm>
          <a:prstGeom prst="rect">
            <a:avLst/>
          </a:prstGeom>
          <a:noFill/>
        </p:spPr>
        <p:txBody>
          <a:bodyPr wrap="square" lIns="45720" tIns="18288" rIns="45720" bIns="18288">
            <a:spAutoFit/>
          </a:bodyPr>
          <a:lstStyle/>
          <a:p>
            <a:pPr algn="l"/>
            <a:r>
              <a:rPr sz="2200" b="1" i="0">
                <a:solidFill>
                  <a:srgbClr val="102040"/>
                </a:solidFill>
                <a:latin typeface="Calibri"/>
              </a:rPr>
              <a:t>Обзор статьи — IPC (Intent-based Prompt Calibration)</a:t>
            </a:r>
          </a:p>
        </p:txBody>
      </p:sp>
      <p:sp>
        <p:nvSpPr>
          <p:cNvPr id="3" name="Rectangle 2"/>
          <p:cNvSpPr/>
          <p:nvPr/>
        </p:nvSpPr>
        <p:spPr>
          <a:xfrm>
            <a:off x="457200" y="749808"/>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7" name="TextBox 16"/>
          <p:cNvSpPr txBox="1"/>
          <p:nvPr/>
        </p:nvSpPr>
        <p:spPr>
          <a:xfrm>
            <a:off x="11247120" y="6601968"/>
            <a:ext cx="914400" cy="190821"/>
          </a:xfrm>
          <a:prstGeom prst="rect">
            <a:avLst/>
          </a:prstGeom>
          <a:noFill/>
        </p:spPr>
        <p:txBody>
          <a:bodyPr wrap="square" lIns="45720" tIns="18288" rIns="45720" bIns="18288">
            <a:spAutoFit/>
          </a:bodyPr>
          <a:lstStyle/>
          <a:p>
            <a:pPr algn="r"/>
            <a:r>
              <a:rPr lang="ru-RU" sz="1000" dirty="0">
                <a:solidFill>
                  <a:srgbClr val="FFFFFF"/>
                </a:solidFill>
                <a:latin typeface="Calibri"/>
              </a:rPr>
              <a:t>4</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pic>
        <p:nvPicPr>
          <p:cNvPr id="20" name="Рисунок 19">
            <a:extLst>
              <a:ext uri="{FF2B5EF4-FFF2-40B4-BE49-F238E27FC236}">
                <a16:creationId xmlns:a16="http://schemas.microsoft.com/office/drawing/2014/main" id="{10D61FB7-5673-488B-94CB-926C8E356A0B}"/>
              </a:ext>
            </a:extLst>
          </p:cNvPr>
          <p:cNvPicPr>
            <a:picLocks noChangeAspect="1"/>
          </p:cNvPicPr>
          <p:nvPr/>
        </p:nvPicPr>
        <p:blipFill>
          <a:blip r:embed="rId2"/>
          <a:stretch>
            <a:fillRect/>
          </a:stretch>
        </p:blipFill>
        <p:spPr>
          <a:xfrm>
            <a:off x="274320" y="1438025"/>
            <a:ext cx="5445897" cy="4196019"/>
          </a:xfrm>
          <a:prstGeom prst="rect">
            <a:avLst/>
          </a:prstGeom>
        </p:spPr>
      </p:pic>
      <p:pic>
        <p:nvPicPr>
          <p:cNvPr id="22" name="Рисунок 21">
            <a:extLst>
              <a:ext uri="{FF2B5EF4-FFF2-40B4-BE49-F238E27FC236}">
                <a16:creationId xmlns:a16="http://schemas.microsoft.com/office/drawing/2014/main" id="{92A53A15-72D5-4F75-B002-43C6C69FA48B}"/>
              </a:ext>
            </a:extLst>
          </p:cNvPr>
          <p:cNvPicPr>
            <a:picLocks noChangeAspect="1"/>
          </p:cNvPicPr>
          <p:nvPr/>
        </p:nvPicPr>
        <p:blipFill>
          <a:blip r:embed="rId3"/>
          <a:stretch>
            <a:fillRect/>
          </a:stretch>
        </p:blipFill>
        <p:spPr>
          <a:xfrm>
            <a:off x="6380019" y="1788031"/>
            <a:ext cx="5403856" cy="3281424"/>
          </a:xfrm>
          <a:prstGeom prst="rect">
            <a:avLst/>
          </a:prstGeom>
        </p:spPr>
      </p:pic>
    </p:spTree>
    <p:extLst>
      <p:ext uri="{BB962C8B-B14F-4D97-AF65-F5344CB8AC3E}">
        <p14:creationId xmlns:p14="http://schemas.microsoft.com/office/powerpoint/2010/main" val="1643775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430000" cy="502920"/>
          </a:xfrm>
          <a:prstGeom prst="rect">
            <a:avLst/>
          </a:prstGeom>
          <a:noFill/>
        </p:spPr>
        <p:txBody>
          <a:bodyPr wrap="square" lIns="45720" tIns="18288" rIns="45720" bIns="18288">
            <a:spAutoFit/>
          </a:bodyPr>
          <a:lstStyle/>
          <a:p>
            <a:pPr algn="l"/>
            <a:r>
              <a:rPr sz="2600" b="1" i="0">
                <a:solidFill>
                  <a:srgbClr val="102040"/>
                </a:solidFill>
                <a:latin typeface="Calibri"/>
              </a:rPr>
              <a:t>Моя работа: Active Prompt Engineering</a:t>
            </a:r>
          </a:p>
        </p:txBody>
      </p:sp>
      <p:sp>
        <p:nvSpPr>
          <p:cNvPr id="3" name="Rectangle 2"/>
          <p:cNvSpPr/>
          <p:nvPr/>
        </p:nvSpPr>
        <p:spPr>
          <a:xfrm>
            <a:off x="457200" y="804672"/>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123738" y="873572"/>
            <a:ext cx="11247120" cy="310896"/>
          </a:xfrm>
          <a:prstGeom prst="rect">
            <a:avLst/>
          </a:prstGeom>
          <a:noFill/>
        </p:spPr>
        <p:txBody>
          <a:bodyPr wrap="square" lIns="45720" tIns="18288" rIns="45720" bIns="18288">
            <a:spAutoFit/>
          </a:bodyPr>
          <a:lstStyle/>
          <a:p>
            <a:pPr algn="l"/>
            <a:r>
              <a:rPr sz="1500" b="0" i="1">
                <a:solidFill>
                  <a:srgbClr val="555555"/>
                </a:solidFill>
                <a:latin typeface="Calibri"/>
              </a:rPr>
              <a:t>Оптимизируем промпт не на случайных примерах, а на ошибках текущей системы</a:t>
            </a:r>
          </a:p>
        </p:txBody>
      </p:sp>
      <p:sp>
        <p:nvSpPr>
          <p:cNvPr id="5" name="Rounded Rectangle 4"/>
          <p:cNvSpPr/>
          <p:nvPr/>
        </p:nvSpPr>
        <p:spPr>
          <a:xfrm>
            <a:off x="342345" y="1264609"/>
            <a:ext cx="4928615" cy="2199511"/>
          </a:xfrm>
          <a:prstGeom prst="roundRect">
            <a:avLst/>
          </a:prstGeom>
          <a:solidFill>
            <a:srgbClr val="E8F1FB"/>
          </a:solidFill>
          <a:ln w="12700">
            <a:solidFill>
              <a:srgbClr val="B8C7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7522" y="1358525"/>
            <a:ext cx="4937760" cy="310896"/>
          </a:xfrm>
          <a:prstGeom prst="rect">
            <a:avLst/>
          </a:prstGeom>
          <a:noFill/>
        </p:spPr>
        <p:txBody>
          <a:bodyPr wrap="square" lIns="45720" tIns="18288" rIns="45720" bIns="18288">
            <a:spAutoFit/>
          </a:bodyPr>
          <a:lstStyle/>
          <a:p>
            <a:pPr algn="l"/>
            <a:r>
              <a:rPr sz="1700" b="1" i="0">
                <a:solidFill>
                  <a:srgbClr val="1F77B4"/>
                </a:solidFill>
                <a:latin typeface="Calibri"/>
              </a:rPr>
              <a:t>Постановка</a:t>
            </a:r>
          </a:p>
        </p:txBody>
      </p:sp>
      <p:sp>
        <p:nvSpPr>
          <p:cNvPr id="7" name="TextBox 6"/>
          <p:cNvSpPr txBox="1"/>
          <p:nvPr/>
        </p:nvSpPr>
        <p:spPr>
          <a:xfrm>
            <a:off x="561802" y="1788293"/>
            <a:ext cx="4892040" cy="2240280"/>
          </a:xfrm>
          <a:prstGeom prst="rect">
            <a:avLst/>
          </a:prstGeom>
          <a:noFill/>
        </p:spPr>
        <p:txBody>
          <a:bodyPr wrap="square" lIns="18288" tIns="18288" rIns="18288" bIns="18288">
            <a:spAutoFit/>
          </a:bodyPr>
          <a:lstStyle/>
          <a:p>
            <a:pPr>
              <a:spcAft>
                <a:spcPts val="500"/>
              </a:spcAft>
            </a:pPr>
            <a:r>
              <a:rPr sz="1300" b="1">
                <a:solidFill>
                  <a:srgbClr val="202020"/>
                </a:solidFill>
                <a:latin typeface="Calibri"/>
              </a:rPr>
              <a:t>•  Данные:</a:t>
            </a:r>
            <a:r>
              <a:rPr sz="1300">
                <a:solidFill>
                  <a:srgbClr val="202020"/>
                </a:solidFill>
                <a:latin typeface="Calibri"/>
              </a:rPr>
              <a:t> Amazon WILDS, отзывы 1–5★</a:t>
            </a:r>
          </a:p>
          <a:p>
            <a:pPr>
              <a:spcAft>
                <a:spcPts val="500"/>
              </a:spcAft>
            </a:pPr>
            <a:r>
              <a:rPr sz="1300" b="1">
                <a:solidFill>
                  <a:srgbClr val="202020"/>
                </a:solidFill>
                <a:latin typeface="Calibri"/>
              </a:rPr>
              <a:t>•  OOD-сдвиг:</a:t>
            </a:r>
            <a:r>
              <a:rPr sz="1300">
                <a:solidFill>
                  <a:srgbClr val="202020"/>
                </a:solidFill>
                <a:latin typeface="Calibri"/>
              </a:rPr>
              <a:t> train / val / test разделены по пользователям</a:t>
            </a:r>
          </a:p>
          <a:p>
            <a:pPr>
              <a:spcAft>
                <a:spcPts val="500"/>
              </a:spcAft>
            </a:pPr>
            <a:r>
              <a:rPr sz="1300" b="1">
                <a:solidFill>
                  <a:srgbClr val="202020"/>
                </a:solidFill>
                <a:latin typeface="Calibri"/>
              </a:rPr>
              <a:t>•  Главная метрика:</a:t>
            </a:r>
            <a:r>
              <a:rPr sz="1300">
                <a:solidFill>
                  <a:srgbClr val="202020"/>
                </a:solidFill>
                <a:latin typeface="Calibri"/>
              </a:rPr>
              <a:t> R_worst — качество на худших 10% пользователей</a:t>
            </a:r>
          </a:p>
          <a:p>
            <a:pPr>
              <a:spcAft>
                <a:spcPts val="500"/>
              </a:spcAft>
            </a:pPr>
            <a:r>
              <a:rPr sz="1300" b="1">
                <a:solidFill>
                  <a:srgbClr val="202020"/>
                </a:solidFill>
                <a:latin typeface="Calibri"/>
              </a:rPr>
              <a:t>•  Трудность:</a:t>
            </a:r>
            <a:r>
              <a:rPr sz="1300">
                <a:solidFill>
                  <a:srgbClr val="202020"/>
                </a:solidFill>
                <a:latin typeface="Calibri"/>
              </a:rPr>
              <a:t> ошибки концентрируются на границах 2/3, 3/4, 4/5</a:t>
            </a:r>
          </a:p>
        </p:txBody>
      </p:sp>
      <p:sp>
        <p:nvSpPr>
          <p:cNvPr id="8" name="Rounded Rectangle 7"/>
          <p:cNvSpPr/>
          <p:nvPr/>
        </p:nvSpPr>
        <p:spPr>
          <a:xfrm>
            <a:off x="6016751" y="1204081"/>
            <a:ext cx="5021551" cy="2260039"/>
          </a:xfrm>
          <a:prstGeom prst="roundRect">
            <a:avLst/>
          </a:prstGeom>
          <a:solidFill>
            <a:srgbClr val="E6F4EA"/>
          </a:solidFill>
          <a:ln w="12700">
            <a:solidFill>
              <a:srgbClr val="B8C7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1358525"/>
            <a:ext cx="4937760" cy="310896"/>
          </a:xfrm>
          <a:prstGeom prst="rect">
            <a:avLst/>
          </a:prstGeom>
          <a:noFill/>
        </p:spPr>
        <p:txBody>
          <a:bodyPr wrap="square" lIns="45720" tIns="18288" rIns="45720" bIns="18288">
            <a:spAutoFit/>
          </a:bodyPr>
          <a:lstStyle/>
          <a:p>
            <a:pPr algn="l"/>
            <a:r>
              <a:rPr sz="1700" b="1" i="0" dirty="0" err="1">
                <a:solidFill>
                  <a:srgbClr val="1F77B4"/>
                </a:solidFill>
                <a:latin typeface="Calibri"/>
              </a:rPr>
              <a:t>Идея</a:t>
            </a:r>
            <a:r>
              <a:rPr sz="1700" b="1" i="0" dirty="0">
                <a:solidFill>
                  <a:srgbClr val="1F77B4"/>
                </a:solidFill>
                <a:latin typeface="Calibri"/>
              </a:rPr>
              <a:t> APE</a:t>
            </a:r>
          </a:p>
        </p:txBody>
      </p:sp>
      <p:sp>
        <p:nvSpPr>
          <p:cNvPr id="10" name="TextBox 9"/>
          <p:cNvSpPr txBox="1"/>
          <p:nvPr/>
        </p:nvSpPr>
        <p:spPr>
          <a:xfrm>
            <a:off x="6452461" y="1800204"/>
            <a:ext cx="4892040" cy="2240280"/>
          </a:xfrm>
          <a:prstGeom prst="rect">
            <a:avLst/>
          </a:prstGeom>
          <a:noFill/>
        </p:spPr>
        <p:txBody>
          <a:bodyPr wrap="square" lIns="18288" tIns="18288" rIns="18288" bIns="18288">
            <a:spAutoFit/>
          </a:bodyPr>
          <a:lstStyle/>
          <a:p>
            <a:pPr>
              <a:spcAft>
                <a:spcPts val="500"/>
              </a:spcAft>
            </a:pPr>
            <a:r>
              <a:rPr sz="1300" b="1" dirty="0">
                <a:solidFill>
                  <a:srgbClr val="202020"/>
                </a:solidFill>
                <a:latin typeface="Calibri"/>
              </a:rPr>
              <a:t>•  Hard:</a:t>
            </a:r>
            <a:r>
              <a:rPr sz="1300" dirty="0">
                <a:solidFill>
                  <a:srgbClr val="202020"/>
                </a:solidFill>
                <a:latin typeface="Calibri"/>
              </a:rPr>
              <a:t> </a:t>
            </a:r>
            <a:r>
              <a:rPr sz="1300" dirty="0" err="1">
                <a:solidFill>
                  <a:srgbClr val="202020"/>
                </a:solidFill>
                <a:latin typeface="Calibri"/>
              </a:rPr>
              <a:t>ошибочные</a:t>
            </a:r>
            <a:r>
              <a:rPr sz="1300" dirty="0">
                <a:solidFill>
                  <a:srgbClr val="202020"/>
                </a:solidFill>
                <a:latin typeface="Calibri"/>
              </a:rPr>
              <a:t> и </a:t>
            </a:r>
            <a:r>
              <a:rPr sz="1300" dirty="0" err="1">
                <a:solidFill>
                  <a:srgbClr val="202020"/>
                </a:solidFill>
                <a:latin typeface="Calibri"/>
              </a:rPr>
              <a:t>спорные</a:t>
            </a:r>
            <a:r>
              <a:rPr sz="1300" dirty="0">
                <a:solidFill>
                  <a:srgbClr val="202020"/>
                </a:solidFill>
                <a:latin typeface="Calibri"/>
              </a:rPr>
              <a:t> </a:t>
            </a:r>
            <a:r>
              <a:rPr sz="1300" dirty="0" err="1">
                <a:solidFill>
                  <a:srgbClr val="202020"/>
                </a:solidFill>
                <a:latin typeface="Calibri"/>
              </a:rPr>
              <a:t>примеры</a:t>
            </a:r>
            <a:endParaRPr sz="1300" dirty="0">
              <a:solidFill>
                <a:srgbClr val="202020"/>
              </a:solidFill>
              <a:latin typeface="Calibri"/>
            </a:endParaRPr>
          </a:p>
          <a:p>
            <a:pPr>
              <a:spcAft>
                <a:spcPts val="500"/>
              </a:spcAft>
            </a:pPr>
            <a:r>
              <a:rPr sz="1300" b="1" dirty="0">
                <a:solidFill>
                  <a:srgbClr val="202020"/>
                </a:solidFill>
                <a:latin typeface="Calibri"/>
              </a:rPr>
              <a:t>•  Anchor:</a:t>
            </a:r>
            <a:r>
              <a:rPr sz="1300" dirty="0">
                <a:solidFill>
                  <a:srgbClr val="202020"/>
                </a:solidFill>
                <a:latin typeface="Calibri"/>
              </a:rPr>
              <a:t> </a:t>
            </a:r>
            <a:r>
              <a:rPr sz="1300" dirty="0" err="1">
                <a:solidFill>
                  <a:srgbClr val="202020"/>
                </a:solidFill>
                <a:latin typeface="Calibri"/>
              </a:rPr>
              <a:t>уверенно</a:t>
            </a:r>
            <a:r>
              <a:rPr sz="1300" dirty="0">
                <a:solidFill>
                  <a:srgbClr val="202020"/>
                </a:solidFill>
                <a:latin typeface="Calibri"/>
              </a:rPr>
              <a:t> </a:t>
            </a:r>
            <a:r>
              <a:rPr sz="1300" dirty="0" err="1">
                <a:solidFill>
                  <a:srgbClr val="202020"/>
                </a:solidFill>
                <a:latin typeface="Calibri"/>
              </a:rPr>
              <a:t>решённые</a:t>
            </a:r>
            <a:r>
              <a:rPr sz="1300" dirty="0">
                <a:solidFill>
                  <a:srgbClr val="202020"/>
                </a:solidFill>
                <a:latin typeface="Calibri"/>
              </a:rPr>
              <a:t> </a:t>
            </a:r>
            <a:r>
              <a:rPr sz="1300" dirty="0" err="1">
                <a:solidFill>
                  <a:srgbClr val="202020"/>
                </a:solidFill>
                <a:latin typeface="Calibri"/>
              </a:rPr>
              <a:t>примеры</a:t>
            </a:r>
            <a:endParaRPr sz="1300" dirty="0">
              <a:solidFill>
                <a:srgbClr val="202020"/>
              </a:solidFill>
              <a:latin typeface="Calibri"/>
            </a:endParaRPr>
          </a:p>
          <a:p>
            <a:pPr>
              <a:spcAft>
                <a:spcPts val="500"/>
              </a:spcAft>
            </a:pPr>
            <a:r>
              <a:rPr sz="1300" b="1" dirty="0">
                <a:solidFill>
                  <a:srgbClr val="202020"/>
                </a:solidFill>
                <a:latin typeface="Calibri"/>
              </a:rPr>
              <a:t>•  MAP-Elites:</a:t>
            </a:r>
            <a:r>
              <a:rPr sz="1300" dirty="0">
                <a:solidFill>
                  <a:srgbClr val="202020"/>
                </a:solidFill>
                <a:latin typeface="Calibri"/>
              </a:rPr>
              <a:t> </a:t>
            </a:r>
            <a:r>
              <a:rPr sz="1300" dirty="0" err="1">
                <a:solidFill>
                  <a:srgbClr val="202020"/>
                </a:solidFill>
                <a:latin typeface="Calibri"/>
              </a:rPr>
              <a:t>эволюция</a:t>
            </a:r>
            <a:r>
              <a:rPr sz="1300" dirty="0">
                <a:solidFill>
                  <a:srgbClr val="202020"/>
                </a:solidFill>
                <a:latin typeface="Calibri"/>
              </a:rPr>
              <a:t> </a:t>
            </a:r>
            <a:r>
              <a:rPr sz="1300" dirty="0" err="1">
                <a:solidFill>
                  <a:srgbClr val="202020"/>
                </a:solidFill>
                <a:latin typeface="Calibri"/>
              </a:rPr>
              <a:t>промпта</a:t>
            </a:r>
            <a:r>
              <a:rPr sz="1300" dirty="0">
                <a:solidFill>
                  <a:srgbClr val="202020"/>
                </a:solidFill>
                <a:latin typeface="Calibri"/>
              </a:rPr>
              <a:t> </a:t>
            </a:r>
            <a:r>
              <a:rPr sz="1300" dirty="0" err="1">
                <a:solidFill>
                  <a:srgbClr val="202020"/>
                </a:solidFill>
                <a:latin typeface="Calibri"/>
              </a:rPr>
              <a:t>по</a:t>
            </a:r>
            <a:r>
              <a:rPr sz="1300" dirty="0">
                <a:solidFill>
                  <a:srgbClr val="202020"/>
                </a:solidFill>
                <a:latin typeface="Calibri"/>
              </a:rPr>
              <a:t> hard/anchor fitness</a:t>
            </a:r>
          </a:p>
          <a:p>
            <a:pPr>
              <a:spcAft>
                <a:spcPts val="500"/>
              </a:spcAft>
            </a:pPr>
            <a:r>
              <a:rPr sz="1300" b="1" dirty="0">
                <a:solidFill>
                  <a:srgbClr val="202020"/>
                </a:solidFill>
                <a:latin typeface="Calibri"/>
              </a:rPr>
              <a:t>•  </a:t>
            </a:r>
            <a:r>
              <a:rPr sz="1300" b="1" dirty="0" err="1">
                <a:solidFill>
                  <a:srgbClr val="202020"/>
                </a:solidFill>
                <a:latin typeface="Calibri"/>
              </a:rPr>
              <a:t>Цель</a:t>
            </a:r>
            <a:r>
              <a:rPr sz="1300" b="1" dirty="0">
                <a:solidFill>
                  <a:srgbClr val="202020"/>
                </a:solidFill>
                <a:latin typeface="Calibri"/>
              </a:rPr>
              <a:t>:</a:t>
            </a:r>
            <a:r>
              <a:rPr sz="1300" dirty="0">
                <a:solidFill>
                  <a:srgbClr val="202020"/>
                </a:solidFill>
                <a:latin typeface="Calibri"/>
              </a:rPr>
              <a:t> </a:t>
            </a:r>
            <a:r>
              <a:rPr sz="1300" dirty="0" err="1">
                <a:solidFill>
                  <a:srgbClr val="202020"/>
                </a:solidFill>
                <a:latin typeface="Calibri"/>
              </a:rPr>
              <a:t>улучшить</a:t>
            </a:r>
            <a:r>
              <a:rPr sz="1300" dirty="0">
                <a:solidFill>
                  <a:srgbClr val="202020"/>
                </a:solidFill>
                <a:latin typeface="Calibri"/>
              </a:rPr>
              <a:t> </a:t>
            </a:r>
            <a:r>
              <a:rPr sz="1300" dirty="0" err="1">
                <a:solidFill>
                  <a:srgbClr val="202020"/>
                </a:solidFill>
                <a:latin typeface="Calibri"/>
              </a:rPr>
              <a:t>сложные</a:t>
            </a:r>
            <a:r>
              <a:rPr sz="1300" dirty="0">
                <a:solidFill>
                  <a:srgbClr val="202020"/>
                </a:solidFill>
                <a:latin typeface="Calibri"/>
              </a:rPr>
              <a:t> </a:t>
            </a:r>
            <a:r>
              <a:rPr sz="1300" dirty="0" err="1">
                <a:solidFill>
                  <a:srgbClr val="202020"/>
                </a:solidFill>
                <a:latin typeface="Calibri"/>
              </a:rPr>
              <a:t>случаи</a:t>
            </a:r>
            <a:r>
              <a:rPr sz="1300" dirty="0">
                <a:solidFill>
                  <a:srgbClr val="202020"/>
                </a:solidFill>
                <a:latin typeface="Calibri"/>
              </a:rPr>
              <a:t> </a:t>
            </a:r>
            <a:r>
              <a:rPr sz="1300" dirty="0" err="1">
                <a:solidFill>
                  <a:srgbClr val="202020"/>
                </a:solidFill>
                <a:latin typeface="Calibri"/>
              </a:rPr>
              <a:t>без</a:t>
            </a:r>
            <a:r>
              <a:rPr sz="1300" dirty="0">
                <a:solidFill>
                  <a:srgbClr val="202020"/>
                </a:solidFill>
                <a:latin typeface="Calibri"/>
              </a:rPr>
              <a:t> </a:t>
            </a:r>
            <a:r>
              <a:rPr sz="1300" dirty="0" err="1">
                <a:solidFill>
                  <a:srgbClr val="202020"/>
                </a:solidFill>
                <a:latin typeface="Calibri"/>
              </a:rPr>
              <a:t>деградации</a:t>
            </a:r>
            <a:r>
              <a:rPr sz="1300" dirty="0">
                <a:solidFill>
                  <a:srgbClr val="202020"/>
                </a:solidFill>
                <a:latin typeface="Calibri"/>
              </a:rPr>
              <a:t> </a:t>
            </a:r>
            <a:r>
              <a:rPr sz="1300" dirty="0" err="1">
                <a:solidFill>
                  <a:srgbClr val="202020"/>
                </a:solidFill>
                <a:latin typeface="Calibri"/>
              </a:rPr>
              <a:t>стабильных</a:t>
            </a:r>
            <a:endParaRPr sz="1300" dirty="0">
              <a:solidFill>
                <a:srgbClr val="202020"/>
              </a:solidFill>
              <a:latin typeface="Calibri"/>
            </a:endParaRPr>
          </a:p>
        </p:txBody>
      </p:sp>
      <p:sp>
        <p:nvSpPr>
          <p:cNvPr id="28" name="TextBox 27"/>
          <p:cNvSpPr txBox="1"/>
          <p:nvPr/>
        </p:nvSpPr>
        <p:spPr>
          <a:xfrm>
            <a:off x="674268" y="6316291"/>
            <a:ext cx="10424160" cy="256032"/>
          </a:xfrm>
          <a:prstGeom prst="rect">
            <a:avLst/>
          </a:prstGeom>
          <a:noFill/>
        </p:spPr>
        <p:txBody>
          <a:bodyPr wrap="square" lIns="45720" tIns="18288" rIns="45720" bIns="18288">
            <a:spAutoFit/>
          </a:bodyPr>
          <a:lstStyle/>
          <a:p>
            <a:pPr algn="ctr"/>
            <a:r>
              <a:rPr sz="1000" b="0" i="1" dirty="0" err="1">
                <a:solidFill>
                  <a:srgbClr val="555555"/>
                </a:solidFill>
                <a:latin typeface="Calibri"/>
              </a:rPr>
              <a:t>цикл</a:t>
            </a:r>
            <a:r>
              <a:rPr sz="1000" b="0" i="1" dirty="0">
                <a:solidFill>
                  <a:srgbClr val="555555"/>
                </a:solidFill>
                <a:latin typeface="Calibri"/>
              </a:rPr>
              <a:t> </a:t>
            </a:r>
            <a:r>
              <a:rPr sz="1000" b="0" i="1" dirty="0" err="1">
                <a:solidFill>
                  <a:srgbClr val="555555"/>
                </a:solidFill>
                <a:latin typeface="Calibri"/>
              </a:rPr>
              <a:t>повторяется</a:t>
            </a:r>
            <a:r>
              <a:rPr sz="1000" b="0" i="1" dirty="0">
                <a:solidFill>
                  <a:srgbClr val="555555"/>
                </a:solidFill>
                <a:latin typeface="Calibri"/>
              </a:rPr>
              <a:t>: </a:t>
            </a:r>
            <a:r>
              <a:rPr sz="1000" b="0" i="1" dirty="0" err="1">
                <a:solidFill>
                  <a:srgbClr val="555555"/>
                </a:solidFill>
                <a:latin typeface="Calibri"/>
              </a:rPr>
              <a:t>новые</a:t>
            </a:r>
            <a:r>
              <a:rPr sz="1000" b="0" i="1" dirty="0">
                <a:solidFill>
                  <a:srgbClr val="555555"/>
                </a:solidFill>
                <a:latin typeface="Calibri"/>
              </a:rPr>
              <a:t> </a:t>
            </a:r>
            <a:r>
              <a:rPr sz="1000" b="0" i="1" dirty="0" err="1">
                <a:solidFill>
                  <a:srgbClr val="555555"/>
                </a:solidFill>
                <a:latin typeface="Calibri"/>
              </a:rPr>
              <a:t>ошибки</a:t>
            </a:r>
            <a:r>
              <a:rPr sz="1000" b="0" i="1" dirty="0">
                <a:solidFill>
                  <a:srgbClr val="555555"/>
                </a:solidFill>
                <a:latin typeface="Calibri"/>
              </a:rPr>
              <a:t> </a:t>
            </a:r>
            <a:r>
              <a:rPr sz="1000" b="0" i="1" dirty="0" err="1">
                <a:solidFill>
                  <a:srgbClr val="555555"/>
                </a:solidFill>
                <a:latin typeface="Calibri"/>
              </a:rPr>
              <a:t>снова</a:t>
            </a:r>
            <a:r>
              <a:rPr sz="1000" b="0" i="1" dirty="0">
                <a:solidFill>
                  <a:srgbClr val="555555"/>
                </a:solidFill>
                <a:latin typeface="Calibri"/>
              </a:rPr>
              <a:t> </a:t>
            </a:r>
            <a:r>
              <a:rPr sz="1000" b="0" i="1" dirty="0" err="1">
                <a:solidFill>
                  <a:srgbClr val="555555"/>
                </a:solidFill>
                <a:latin typeface="Calibri"/>
              </a:rPr>
              <a:t>попадают</a:t>
            </a:r>
            <a:r>
              <a:rPr sz="1000" b="0" i="1" dirty="0">
                <a:solidFill>
                  <a:srgbClr val="555555"/>
                </a:solidFill>
                <a:latin typeface="Calibri"/>
              </a:rPr>
              <a:t> в Hard pool</a:t>
            </a:r>
          </a:p>
        </p:txBody>
      </p:sp>
      <p:sp>
        <p:nvSpPr>
          <p:cNvPr id="30" name="Rectangle 29"/>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6601968"/>
            <a:ext cx="978408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Active Prompt Engineering</a:t>
            </a:r>
          </a:p>
        </p:txBody>
      </p:sp>
      <p:sp>
        <p:nvSpPr>
          <p:cNvPr id="32" name="TextBox 31"/>
          <p:cNvSpPr txBox="1"/>
          <p:nvPr/>
        </p:nvSpPr>
        <p:spPr>
          <a:xfrm>
            <a:off x="10561320" y="6601968"/>
            <a:ext cx="1325880" cy="175433"/>
          </a:xfrm>
          <a:prstGeom prst="rect">
            <a:avLst/>
          </a:prstGeom>
          <a:noFill/>
        </p:spPr>
        <p:txBody>
          <a:bodyPr wrap="square" lIns="45720" tIns="18288" rIns="45720" bIns="18288">
            <a:spAutoFit/>
          </a:bodyPr>
          <a:lstStyle/>
          <a:p>
            <a:pPr algn="r"/>
            <a:r>
              <a:rPr lang="ru-RU" sz="900" dirty="0">
                <a:solidFill>
                  <a:srgbClr val="FFFFFF"/>
                </a:solidFill>
                <a:latin typeface="Calibri"/>
              </a:rPr>
              <a:t>5 </a:t>
            </a:r>
            <a:r>
              <a:rPr lang="en-US" sz="900" dirty="0">
                <a:solidFill>
                  <a:srgbClr val="FFFFFF"/>
                </a:solidFill>
                <a:latin typeface="Calibri"/>
              </a:rPr>
              <a:t>/ 13</a:t>
            </a:r>
            <a:endParaRPr sz="900" b="0" i="0" dirty="0">
              <a:solidFill>
                <a:srgbClr val="FFFFFF"/>
              </a:solidFill>
              <a:latin typeface="Calibri"/>
            </a:endParaRPr>
          </a:p>
        </p:txBody>
      </p:sp>
      <p:pic>
        <p:nvPicPr>
          <p:cNvPr id="33" name="Объект 4">
            <a:extLst>
              <a:ext uri="{FF2B5EF4-FFF2-40B4-BE49-F238E27FC236}">
                <a16:creationId xmlns:a16="http://schemas.microsoft.com/office/drawing/2014/main" id="{BF7A7F0B-01A9-4D97-B3EF-C3372F031E54}"/>
              </a:ext>
            </a:extLst>
          </p:cNvPr>
          <p:cNvPicPr>
            <a:picLocks noChangeAspect="1"/>
          </p:cNvPicPr>
          <p:nvPr/>
        </p:nvPicPr>
        <p:blipFill>
          <a:blip r:embed="rId2"/>
          <a:stretch>
            <a:fillRect/>
          </a:stretch>
        </p:blipFill>
        <p:spPr>
          <a:xfrm>
            <a:off x="2635684" y="3483732"/>
            <a:ext cx="6507736" cy="28029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430000" cy="502920"/>
          </a:xfrm>
          <a:prstGeom prst="rect">
            <a:avLst/>
          </a:prstGeom>
          <a:noFill/>
        </p:spPr>
        <p:txBody>
          <a:bodyPr wrap="square" lIns="45720" tIns="18288" rIns="45720" bIns="18288">
            <a:spAutoFit/>
          </a:bodyPr>
          <a:lstStyle/>
          <a:p>
            <a:pPr algn="l"/>
            <a:r>
              <a:rPr sz="2200" b="1" i="0">
                <a:solidFill>
                  <a:srgbClr val="102040"/>
                </a:solidFill>
                <a:latin typeface="Calibri"/>
              </a:rPr>
              <a:t>Предлагаемая адаптация — boundary few-shot внутри промпта</a:t>
            </a:r>
          </a:p>
        </p:txBody>
      </p:sp>
      <p:sp>
        <p:nvSpPr>
          <p:cNvPr id="3" name="Rectangle 2"/>
          <p:cNvSpPr/>
          <p:nvPr/>
        </p:nvSpPr>
        <p:spPr>
          <a:xfrm>
            <a:off x="457200" y="749808"/>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pipeline_diagram.png"/>
          <p:cNvPicPr>
            <a:picLocks noChangeAspect="1"/>
          </p:cNvPicPr>
          <p:nvPr/>
        </p:nvPicPr>
        <p:blipFill>
          <a:blip r:embed="rId2"/>
          <a:stretch>
            <a:fillRect/>
          </a:stretch>
        </p:blipFill>
        <p:spPr>
          <a:xfrm>
            <a:off x="411480" y="868680"/>
            <a:ext cx="7818120" cy="2525854"/>
          </a:xfrm>
          <a:prstGeom prst="rect">
            <a:avLst/>
          </a:prstGeom>
        </p:spPr>
      </p:pic>
      <p:sp>
        <p:nvSpPr>
          <p:cNvPr id="5" name="Rectangle 4"/>
          <p:cNvSpPr/>
          <p:nvPr/>
        </p:nvSpPr>
        <p:spPr>
          <a:xfrm>
            <a:off x="8412480" y="868680"/>
            <a:ext cx="3520440" cy="361188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49640" y="914400"/>
            <a:ext cx="3246120" cy="347472"/>
          </a:xfrm>
          <a:prstGeom prst="rect">
            <a:avLst/>
          </a:prstGeom>
          <a:noFill/>
        </p:spPr>
        <p:txBody>
          <a:bodyPr wrap="square" lIns="45720" tIns="18288" rIns="45720" bIns="18288">
            <a:spAutoFit/>
          </a:bodyPr>
          <a:lstStyle/>
          <a:p>
            <a:pPr algn="l"/>
            <a:r>
              <a:rPr sz="1400" b="1" i="0">
                <a:solidFill>
                  <a:srgbClr val="102040"/>
                </a:solidFill>
                <a:latin typeface="Calibri"/>
              </a:rPr>
              <a:t>Отличия от IPC</a:t>
            </a:r>
          </a:p>
        </p:txBody>
      </p:sp>
      <p:sp>
        <p:nvSpPr>
          <p:cNvPr id="7" name="TextBox 6"/>
          <p:cNvSpPr txBox="1"/>
          <p:nvPr/>
        </p:nvSpPr>
        <p:spPr>
          <a:xfrm>
            <a:off x="8485632" y="1261872"/>
            <a:ext cx="3337560" cy="3154680"/>
          </a:xfrm>
          <a:prstGeom prst="rect">
            <a:avLst/>
          </a:prstGeom>
          <a:noFill/>
        </p:spPr>
        <p:txBody>
          <a:bodyPr wrap="square">
            <a:spAutoFit/>
          </a:bodyPr>
          <a:lstStyle/>
          <a:p>
            <a:pPr algn="l">
              <a:spcAft>
                <a:spcPts val="400"/>
              </a:spcAft>
            </a:pPr>
            <a:r>
              <a:rPr sz="1000">
                <a:solidFill>
                  <a:srgbClr val="202020"/>
                </a:solidFill>
                <a:latin typeface="Calibri"/>
              </a:rPr>
              <a:t>•  Синтетика переходит из контура оценки в контур промпта (in-context).</a:t>
            </a:r>
          </a:p>
          <a:p>
            <a:pPr algn="l">
              <a:spcAft>
                <a:spcPts val="400"/>
              </a:spcAft>
            </a:pPr>
            <a:r>
              <a:rPr sz="1000">
                <a:solidFill>
                  <a:srgbClr val="202020"/>
                </a:solidFill>
                <a:latin typeface="Calibri"/>
              </a:rPr>
              <a:t>•  Нет human-in-the-loop: мутатор MAP-Elites решает, что оставить.</a:t>
            </a:r>
          </a:p>
          <a:p>
            <a:pPr algn="l">
              <a:spcAft>
                <a:spcPts val="400"/>
              </a:spcAft>
            </a:pPr>
            <a:r>
              <a:rPr sz="1000">
                <a:solidFill>
                  <a:srgbClr val="202020"/>
                </a:solidFill>
                <a:latin typeface="Calibri"/>
              </a:rPr>
              <a:t>•  Режимы: replace — жёсткая замена блока; inject_as_hint — мягкая подсказка в system message.</a:t>
            </a:r>
          </a:p>
          <a:p>
            <a:pPr algn="l">
              <a:spcAft>
                <a:spcPts val="400"/>
              </a:spcAft>
            </a:pPr>
            <a:r>
              <a:rPr sz="1000">
                <a:solidFill>
                  <a:srgbClr val="202020"/>
                </a:solidFill>
                <a:latin typeface="Calibri"/>
              </a:rPr>
              <a:t>•  Привязка к confusion matrix и меткам Hard / Anchor в AL-цикле.</a:t>
            </a:r>
          </a:p>
        </p:txBody>
      </p:sp>
      <p:sp>
        <p:nvSpPr>
          <p:cNvPr id="8" name="Rectangle 7"/>
          <p:cNvSpPr/>
          <p:nvPr/>
        </p:nvSpPr>
        <p:spPr>
          <a:xfrm>
            <a:off x="457200" y="4617720"/>
            <a:ext cx="11430000" cy="178308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4645152"/>
            <a:ext cx="11155680" cy="347472"/>
          </a:xfrm>
          <a:prstGeom prst="rect">
            <a:avLst/>
          </a:prstGeom>
          <a:noFill/>
        </p:spPr>
        <p:txBody>
          <a:bodyPr wrap="square" lIns="45720" tIns="18288" rIns="45720" bIns="18288">
            <a:spAutoFit/>
          </a:bodyPr>
          <a:lstStyle/>
          <a:p>
            <a:pPr algn="l"/>
            <a:r>
              <a:rPr sz="1200" b="1" i="0">
                <a:solidFill>
                  <a:srgbClr val="102040"/>
                </a:solidFill>
                <a:latin typeface="Calibri"/>
              </a:rPr>
              <a:t>Пример twin-пары (цикл 3, evolve_subsample), граница 4★ / 5★:</a:t>
            </a:r>
          </a:p>
        </p:txBody>
      </p:sp>
      <p:sp>
        <p:nvSpPr>
          <p:cNvPr id="10" name="TextBox 9"/>
          <p:cNvSpPr txBox="1"/>
          <p:nvPr/>
        </p:nvSpPr>
        <p:spPr>
          <a:xfrm>
            <a:off x="566928" y="5010912"/>
            <a:ext cx="5623560" cy="1325880"/>
          </a:xfrm>
          <a:prstGeom prst="rect">
            <a:avLst/>
          </a:prstGeom>
          <a:noFill/>
        </p:spPr>
        <p:txBody>
          <a:bodyPr wrap="square" lIns="45720" tIns="18288" rIns="45720" bIns="18288">
            <a:spAutoFit/>
          </a:bodyPr>
          <a:lstStyle/>
          <a:p>
            <a:pPr algn="l"/>
            <a:r>
              <a:rPr sz="1000" b="0" i="0">
                <a:solidFill>
                  <a:srgbClr val="202020"/>
                </a:solidFill>
                <a:latin typeface="Calibri"/>
              </a:rPr>
              <a:t>5★ — «This coffee maker is a game-changer! … thermal carafe … easy to clean…»</a:t>
            </a:r>
          </a:p>
        </p:txBody>
      </p:sp>
      <p:sp>
        <p:nvSpPr>
          <p:cNvPr id="11" name="TextBox 10"/>
          <p:cNvSpPr txBox="1"/>
          <p:nvPr/>
        </p:nvSpPr>
        <p:spPr>
          <a:xfrm>
            <a:off x="6263640" y="5010912"/>
            <a:ext cx="5623560" cy="1325880"/>
          </a:xfrm>
          <a:prstGeom prst="rect">
            <a:avLst/>
          </a:prstGeom>
          <a:noFill/>
        </p:spPr>
        <p:txBody>
          <a:bodyPr wrap="square" lIns="45720" tIns="18288" rIns="45720" bIns="18288">
            <a:spAutoFit/>
          </a:bodyPr>
          <a:lstStyle/>
          <a:p>
            <a:pPr algn="l"/>
            <a:r>
              <a:rPr sz="1000" b="0" i="0">
                <a:solidFill>
                  <a:srgbClr val="202020"/>
                </a:solidFill>
                <a:latin typeface="Calibri"/>
              </a:rPr>
              <a:t>4★ — «…really good cup… carafe works well. My main complaint is that the opening to pour water is very small…»</a:t>
            </a:r>
          </a:p>
        </p:txBody>
      </p:sp>
      <p:sp>
        <p:nvSpPr>
          <p:cNvPr id="12" name="Rectangle 11"/>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4" name="TextBox 13"/>
          <p:cNvSpPr txBox="1"/>
          <p:nvPr/>
        </p:nvSpPr>
        <p:spPr>
          <a:xfrm>
            <a:off x="11247120" y="6601968"/>
            <a:ext cx="914400" cy="190821"/>
          </a:xfrm>
          <a:prstGeom prst="rect">
            <a:avLst/>
          </a:prstGeom>
          <a:noFill/>
        </p:spPr>
        <p:txBody>
          <a:bodyPr wrap="square" lIns="45720" tIns="18288" rIns="45720" bIns="18288">
            <a:spAutoFit/>
          </a:bodyPr>
          <a:lstStyle/>
          <a:p>
            <a:pPr algn="r"/>
            <a:r>
              <a:rPr lang="en-US" sz="1000" b="0" i="0" dirty="0">
                <a:solidFill>
                  <a:srgbClr val="FFFFFF"/>
                </a:solidFill>
                <a:latin typeface="Calibri"/>
              </a:rPr>
              <a:t>6</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11430000" cy="502920"/>
          </a:xfrm>
          <a:prstGeom prst="rect">
            <a:avLst/>
          </a:prstGeom>
          <a:noFill/>
        </p:spPr>
        <p:txBody>
          <a:bodyPr wrap="square" lIns="45720" tIns="18288" rIns="45720" bIns="18288">
            <a:spAutoFit/>
          </a:bodyPr>
          <a:lstStyle/>
          <a:p>
            <a:pPr algn="l"/>
            <a:r>
              <a:rPr sz="2200" b="1" i="0">
                <a:solidFill>
                  <a:srgbClr val="102040"/>
                </a:solidFill>
                <a:latin typeface="Calibri"/>
              </a:rPr>
              <a:t>Результаты — прирост R_worst и контрольная абляция</a:t>
            </a:r>
          </a:p>
        </p:txBody>
      </p:sp>
      <p:sp>
        <p:nvSpPr>
          <p:cNvPr id="3" name="Rectangle 2"/>
          <p:cNvSpPr/>
          <p:nvPr/>
        </p:nvSpPr>
        <p:spPr>
          <a:xfrm>
            <a:off x="457200" y="731520"/>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bar_rworst_pairs.png"/>
          <p:cNvPicPr>
            <a:picLocks noChangeAspect="1"/>
          </p:cNvPicPr>
          <p:nvPr/>
        </p:nvPicPr>
        <p:blipFill>
          <a:blip r:embed="rId2"/>
          <a:stretch>
            <a:fillRect/>
          </a:stretch>
        </p:blipFill>
        <p:spPr>
          <a:xfrm>
            <a:off x="2104576" y="841248"/>
            <a:ext cx="7575251" cy="3305564"/>
          </a:xfrm>
          <a:prstGeom prst="rect">
            <a:avLst/>
          </a:prstGeom>
        </p:spPr>
      </p:pic>
      <p:sp>
        <p:nvSpPr>
          <p:cNvPr id="5" name="Rectangle 4"/>
          <p:cNvSpPr/>
          <p:nvPr/>
        </p:nvSpPr>
        <p:spPr>
          <a:xfrm>
            <a:off x="473202" y="4183388"/>
            <a:ext cx="5623560" cy="196596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9111" y="4219964"/>
            <a:ext cx="5486400" cy="347472"/>
          </a:xfrm>
          <a:prstGeom prst="rect">
            <a:avLst/>
          </a:prstGeom>
          <a:noFill/>
        </p:spPr>
        <p:txBody>
          <a:bodyPr wrap="square" lIns="45720" tIns="18288" rIns="45720" bIns="18288">
            <a:spAutoFit/>
          </a:bodyPr>
          <a:lstStyle/>
          <a:p>
            <a:pPr algn="l"/>
            <a:r>
              <a:rPr sz="1400" b="1" i="0">
                <a:solidFill>
                  <a:srgbClr val="102040"/>
                </a:solidFill>
                <a:latin typeface="Calibri"/>
              </a:rPr>
              <a:t>Ключевые цифры (test)</a:t>
            </a:r>
          </a:p>
        </p:txBody>
      </p:sp>
      <p:sp>
        <p:nvSpPr>
          <p:cNvPr id="7" name="TextBox 6"/>
          <p:cNvSpPr txBox="1"/>
          <p:nvPr/>
        </p:nvSpPr>
        <p:spPr>
          <a:xfrm>
            <a:off x="599675" y="4466852"/>
            <a:ext cx="5532120" cy="1508760"/>
          </a:xfrm>
          <a:prstGeom prst="rect">
            <a:avLst/>
          </a:prstGeom>
          <a:noFill/>
        </p:spPr>
        <p:txBody>
          <a:bodyPr wrap="square">
            <a:spAutoFit/>
          </a:bodyPr>
          <a:lstStyle/>
          <a:p>
            <a:pPr algn="l">
              <a:spcAft>
                <a:spcPts val="400"/>
              </a:spcAft>
            </a:pPr>
            <a:r>
              <a:rPr sz="1100" b="1" dirty="0">
                <a:solidFill>
                  <a:srgbClr val="202020"/>
                </a:solidFill>
                <a:latin typeface="Calibri"/>
              </a:rPr>
              <a:t>•  </a:t>
            </a:r>
            <a:r>
              <a:rPr sz="1100" b="1" dirty="0" err="1">
                <a:solidFill>
                  <a:srgbClr val="202020"/>
                </a:solidFill>
                <a:latin typeface="Calibri"/>
              </a:rPr>
              <a:t>Одна</a:t>
            </a:r>
            <a:r>
              <a:rPr sz="1100" b="1" dirty="0">
                <a:solidFill>
                  <a:srgbClr val="202020"/>
                </a:solidFill>
                <a:latin typeface="Calibri"/>
              </a:rPr>
              <a:t> </a:t>
            </a:r>
            <a:r>
              <a:rPr sz="1100" b="1" dirty="0" err="1">
                <a:solidFill>
                  <a:srgbClr val="202020"/>
                </a:solidFill>
                <a:latin typeface="Calibri"/>
              </a:rPr>
              <a:t>категория</a:t>
            </a:r>
            <a:r>
              <a:rPr sz="1100" b="1" dirty="0">
                <a:solidFill>
                  <a:srgbClr val="202020"/>
                </a:solidFill>
                <a:latin typeface="Calibri"/>
              </a:rPr>
              <a:t>:</a:t>
            </a:r>
            <a:r>
              <a:rPr sz="1100" dirty="0">
                <a:solidFill>
                  <a:srgbClr val="202020"/>
                </a:solidFill>
                <a:latin typeface="Calibri"/>
              </a:rPr>
              <a:t>  </a:t>
            </a:r>
            <a:r>
              <a:rPr sz="1100" dirty="0" err="1">
                <a:solidFill>
                  <a:srgbClr val="202020"/>
                </a:solidFill>
                <a:latin typeface="Calibri"/>
              </a:rPr>
              <a:t>R_worst</a:t>
            </a:r>
            <a:r>
              <a:rPr sz="1100" dirty="0">
                <a:solidFill>
                  <a:srgbClr val="202020"/>
                </a:solidFill>
                <a:latin typeface="Calibri"/>
              </a:rPr>
              <a:t> 0.503 → 0.569 (+6.6 </a:t>
            </a:r>
            <a:r>
              <a:rPr sz="1100" dirty="0" err="1">
                <a:solidFill>
                  <a:srgbClr val="202020"/>
                </a:solidFill>
                <a:latin typeface="Calibri"/>
              </a:rPr>
              <a:t>п.п</a:t>
            </a:r>
            <a:r>
              <a:rPr sz="1100" dirty="0">
                <a:solidFill>
                  <a:srgbClr val="202020"/>
                </a:solidFill>
                <a:latin typeface="Calibri"/>
              </a:rPr>
              <a:t>.)</a:t>
            </a:r>
          </a:p>
          <a:p>
            <a:pPr algn="l">
              <a:spcAft>
                <a:spcPts val="400"/>
              </a:spcAft>
            </a:pPr>
            <a:r>
              <a:rPr sz="1100" b="1" dirty="0">
                <a:solidFill>
                  <a:srgbClr val="202020"/>
                </a:solidFill>
                <a:latin typeface="Calibri"/>
              </a:rPr>
              <a:t>•  </a:t>
            </a:r>
            <a:r>
              <a:rPr sz="1100" b="1" dirty="0" err="1">
                <a:solidFill>
                  <a:srgbClr val="202020"/>
                </a:solidFill>
                <a:latin typeface="Calibri"/>
              </a:rPr>
              <a:t>Все</a:t>
            </a:r>
            <a:r>
              <a:rPr sz="1100" b="1" dirty="0">
                <a:solidFill>
                  <a:srgbClr val="202020"/>
                </a:solidFill>
                <a:latin typeface="Calibri"/>
              </a:rPr>
              <a:t> 15 </a:t>
            </a:r>
            <a:r>
              <a:rPr sz="1100" b="1" dirty="0" err="1">
                <a:solidFill>
                  <a:srgbClr val="202020"/>
                </a:solidFill>
                <a:latin typeface="Calibri"/>
              </a:rPr>
              <a:t>категорий</a:t>
            </a:r>
            <a:r>
              <a:rPr sz="1100" b="1" dirty="0">
                <a:solidFill>
                  <a:srgbClr val="202020"/>
                </a:solidFill>
                <a:latin typeface="Calibri"/>
              </a:rPr>
              <a:t>:</a:t>
            </a:r>
            <a:r>
              <a:rPr sz="1100" dirty="0">
                <a:solidFill>
                  <a:srgbClr val="202020"/>
                </a:solidFill>
                <a:latin typeface="Calibri"/>
              </a:rPr>
              <a:t>  </a:t>
            </a:r>
            <a:r>
              <a:rPr sz="1100" dirty="0" err="1">
                <a:solidFill>
                  <a:srgbClr val="202020"/>
                </a:solidFill>
                <a:latin typeface="Calibri"/>
              </a:rPr>
              <a:t>R_worst</a:t>
            </a:r>
            <a:r>
              <a:rPr sz="1100" dirty="0">
                <a:solidFill>
                  <a:srgbClr val="202020"/>
                </a:solidFill>
                <a:latin typeface="Calibri"/>
              </a:rPr>
              <a:t> 0.533 → 0.667 (+13.4 </a:t>
            </a:r>
            <a:r>
              <a:rPr sz="1100" dirty="0" err="1">
                <a:solidFill>
                  <a:srgbClr val="202020"/>
                </a:solidFill>
                <a:latin typeface="Calibri"/>
              </a:rPr>
              <a:t>п.п</a:t>
            </a:r>
            <a:r>
              <a:rPr sz="1100" dirty="0">
                <a:solidFill>
                  <a:srgbClr val="202020"/>
                </a:solidFill>
                <a:latin typeface="Calibri"/>
              </a:rPr>
              <a:t>.)</a:t>
            </a:r>
          </a:p>
          <a:p>
            <a:pPr algn="l">
              <a:spcAft>
                <a:spcPts val="400"/>
              </a:spcAft>
            </a:pPr>
            <a:r>
              <a:rPr sz="1100" b="1" dirty="0">
                <a:solidFill>
                  <a:srgbClr val="202020"/>
                </a:solidFill>
                <a:latin typeface="Calibri"/>
              </a:rPr>
              <a:t>•  Combined score:</a:t>
            </a:r>
            <a:r>
              <a:rPr sz="1100" dirty="0">
                <a:solidFill>
                  <a:srgbClr val="202020"/>
                </a:solidFill>
                <a:latin typeface="Calibri"/>
              </a:rPr>
              <a:t>  0.844 → 0.894 (+5 </a:t>
            </a:r>
            <a:r>
              <a:rPr sz="1100" dirty="0" err="1">
                <a:solidFill>
                  <a:srgbClr val="202020"/>
                </a:solidFill>
                <a:latin typeface="Calibri"/>
              </a:rPr>
              <a:t>п.п</a:t>
            </a:r>
            <a:r>
              <a:rPr sz="1100" dirty="0">
                <a:solidFill>
                  <a:srgbClr val="202020"/>
                </a:solidFill>
                <a:latin typeface="Calibri"/>
              </a:rPr>
              <a:t>.)</a:t>
            </a:r>
          </a:p>
          <a:p>
            <a:pPr algn="l">
              <a:spcAft>
                <a:spcPts val="400"/>
              </a:spcAft>
            </a:pPr>
            <a:r>
              <a:rPr sz="1100" b="1" dirty="0">
                <a:solidFill>
                  <a:srgbClr val="202020"/>
                </a:solidFill>
                <a:latin typeface="Calibri"/>
              </a:rPr>
              <a:t>•  </a:t>
            </a:r>
            <a:r>
              <a:rPr sz="1100" b="1" dirty="0" err="1">
                <a:solidFill>
                  <a:srgbClr val="202020"/>
                </a:solidFill>
                <a:latin typeface="Calibri"/>
              </a:rPr>
              <a:t>Acc_Hard</a:t>
            </a:r>
            <a:r>
              <a:rPr sz="1100" b="1" dirty="0">
                <a:solidFill>
                  <a:srgbClr val="202020"/>
                </a:solidFill>
                <a:latin typeface="Calibri"/>
              </a:rPr>
              <a:t>:</a:t>
            </a:r>
            <a:r>
              <a:rPr sz="1100" dirty="0">
                <a:solidFill>
                  <a:srgbClr val="202020"/>
                </a:solidFill>
                <a:latin typeface="Calibri"/>
              </a:rPr>
              <a:t>  0.283 → 0.353 (+7 </a:t>
            </a:r>
            <a:r>
              <a:rPr sz="1100" dirty="0" err="1">
                <a:solidFill>
                  <a:srgbClr val="202020"/>
                </a:solidFill>
                <a:latin typeface="Calibri"/>
              </a:rPr>
              <a:t>п.п</a:t>
            </a:r>
            <a:r>
              <a:rPr sz="1100" dirty="0">
                <a:solidFill>
                  <a:srgbClr val="202020"/>
                </a:solidFill>
                <a:latin typeface="Calibri"/>
              </a:rPr>
              <a:t>.)</a:t>
            </a:r>
          </a:p>
        </p:txBody>
      </p:sp>
      <p:sp>
        <p:nvSpPr>
          <p:cNvPr id="8" name="Rectangle 7"/>
          <p:cNvSpPr/>
          <p:nvPr/>
        </p:nvSpPr>
        <p:spPr>
          <a:xfrm>
            <a:off x="6282671" y="4178840"/>
            <a:ext cx="5623560" cy="1818825"/>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6403086" y="4215384"/>
            <a:ext cx="5486400" cy="347472"/>
          </a:xfrm>
          <a:prstGeom prst="rect">
            <a:avLst/>
          </a:prstGeom>
          <a:noFill/>
        </p:spPr>
        <p:txBody>
          <a:bodyPr wrap="square" lIns="45720" tIns="18288" rIns="45720" bIns="18288">
            <a:spAutoFit/>
          </a:bodyPr>
          <a:lstStyle/>
          <a:p>
            <a:pPr algn="l"/>
            <a:r>
              <a:rPr sz="1400" b="1" i="0" dirty="0" err="1">
                <a:solidFill>
                  <a:srgbClr val="102040"/>
                </a:solidFill>
                <a:latin typeface="Calibri"/>
              </a:rPr>
              <a:t>Контроль</a:t>
            </a:r>
            <a:r>
              <a:rPr sz="1400" b="1" i="0" dirty="0">
                <a:solidFill>
                  <a:srgbClr val="102040"/>
                </a:solidFill>
                <a:latin typeface="Calibri"/>
              </a:rPr>
              <a:t> 8×20 (</a:t>
            </a:r>
            <a:r>
              <a:rPr sz="1400" b="1" i="0" dirty="0" err="1">
                <a:solidFill>
                  <a:srgbClr val="102040"/>
                </a:solidFill>
                <a:latin typeface="Calibri"/>
              </a:rPr>
              <a:t>одна</a:t>
            </a:r>
            <a:r>
              <a:rPr sz="1400" b="1" i="0" dirty="0">
                <a:solidFill>
                  <a:srgbClr val="102040"/>
                </a:solidFill>
                <a:latin typeface="Calibri"/>
              </a:rPr>
              <a:t> </a:t>
            </a:r>
            <a:r>
              <a:rPr sz="1400" b="1" i="0" dirty="0" err="1">
                <a:solidFill>
                  <a:srgbClr val="102040"/>
                </a:solidFill>
                <a:latin typeface="Calibri"/>
              </a:rPr>
              <a:t>категория</a:t>
            </a:r>
            <a:r>
              <a:rPr sz="1400" b="1" i="0" dirty="0">
                <a:solidFill>
                  <a:srgbClr val="102040"/>
                </a:solidFill>
                <a:latin typeface="Calibri"/>
              </a:rPr>
              <a:t>)</a:t>
            </a:r>
          </a:p>
        </p:txBody>
      </p:sp>
      <p:sp>
        <p:nvSpPr>
          <p:cNvPr id="10" name="TextBox 9"/>
          <p:cNvSpPr txBox="1"/>
          <p:nvPr/>
        </p:nvSpPr>
        <p:spPr>
          <a:xfrm>
            <a:off x="6348222" y="4480576"/>
            <a:ext cx="5532120" cy="1508760"/>
          </a:xfrm>
          <a:prstGeom prst="rect">
            <a:avLst/>
          </a:prstGeom>
          <a:noFill/>
        </p:spPr>
        <p:txBody>
          <a:bodyPr wrap="square">
            <a:spAutoFit/>
          </a:bodyPr>
          <a:lstStyle/>
          <a:p>
            <a:pPr algn="l">
              <a:spcAft>
                <a:spcPts val="400"/>
              </a:spcAft>
            </a:pPr>
            <a:r>
              <a:rPr sz="1100" dirty="0">
                <a:solidFill>
                  <a:srgbClr val="202020"/>
                </a:solidFill>
                <a:latin typeface="Calibri"/>
              </a:rPr>
              <a:t>•  </a:t>
            </a:r>
            <a:r>
              <a:rPr sz="1100" dirty="0" err="1">
                <a:solidFill>
                  <a:srgbClr val="202020"/>
                </a:solidFill>
                <a:latin typeface="Calibri"/>
              </a:rPr>
              <a:t>На</a:t>
            </a:r>
            <a:r>
              <a:rPr sz="1100" dirty="0">
                <a:solidFill>
                  <a:srgbClr val="202020"/>
                </a:solidFill>
                <a:latin typeface="Calibri"/>
              </a:rPr>
              <a:t> </a:t>
            </a:r>
            <a:r>
              <a:rPr sz="1100" dirty="0" err="1">
                <a:solidFill>
                  <a:srgbClr val="202020"/>
                </a:solidFill>
                <a:latin typeface="Calibri"/>
              </a:rPr>
              <a:t>Acc_Hard</a:t>
            </a:r>
            <a:r>
              <a:rPr sz="1100" dirty="0">
                <a:solidFill>
                  <a:srgbClr val="202020"/>
                </a:solidFill>
                <a:latin typeface="Calibri"/>
              </a:rPr>
              <a:t> </a:t>
            </a:r>
            <a:r>
              <a:rPr sz="1100" dirty="0" err="1">
                <a:solidFill>
                  <a:srgbClr val="202020"/>
                </a:solidFill>
                <a:latin typeface="Calibri"/>
              </a:rPr>
              <a:t>синтетика</a:t>
            </a:r>
            <a:r>
              <a:rPr sz="1100" dirty="0">
                <a:solidFill>
                  <a:srgbClr val="202020"/>
                </a:solidFill>
                <a:latin typeface="Calibri"/>
              </a:rPr>
              <a:t> </a:t>
            </a:r>
            <a:r>
              <a:rPr sz="1100" dirty="0" err="1">
                <a:solidFill>
                  <a:srgbClr val="202020"/>
                </a:solidFill>
                <a:latin typeface="Calibri"/>
              </a:rPr>
              <a:t>стабильно</a:t>
            </a:r>
            <a:r>
              <a:rPr sz="1100" dirty="0">
                <a:solidFill>
                  <a:srgbClr val="202020"/>
                </a:solidFill>
                <a:latin typeface="Calibri"/>
              </a:rPr>
              <a:t> </a:t>
            </a:r>
            <a:r>
              <a:rPr sz="1100" dirty="0" err="1">
                <a:solidFill>
                  <a:srgbClr val="202020"/>
                </a:solidFill>
                <a:latin typeface="Calibri"/>
              </a:rPr>
              <a:t>выше</a:t>
            </a:r>
            <a:r>
              <a:rPr sz="1100" dirty="0">
                <a:solidFill>
                  <a:srgbClr val="202020"/>
                </a:solidFill>
                <a:latin typeface="Calibri"/>
              </a:rPr>
              <a:t> </a:t>
            </a:r>
            <a:r>
              <a:rPr sz="1100" dirty="0" err="1">
                <a:solidFill>
                  <a:srgbClr val="202020"/>
                </a:solidFill>
                <a:latin typeface="Calibri"/>
              </a:rPr>
              <a:t>на</a:t>
            </a:r>
            <a:r>
              <a:rPr sz="1100" dirty="0">
                <a:solidFill>
                  <a:srgbClr val="202020"/>
                </a:solidFill>
                <a:latin typeface="Calibri"/>
              </a:rPr>
              <a:t> </a:t>
            </a:r>
            <a:r>
              <a:rPr sz="1100" dirty="0" err="1">
                <a:solidFill>
                  <a:srgbClr val="202020"/>
                </a:solidFill>
                <a:latin typeface="Calibri"/>
              </a:rPr>
              <a:t>протяжении</a:t>
            </a:r>
            <a:r>
              <a:rPr sz="1100" dirty="0">
                <a:solidFill>
                  <a:srgbClr val="202020"/>
                </a:solidFill>
                <a:latin typeface="Calibri"/>
              </a:rPr>
              <a:t> </a:t>
            </a:r>
            <a:r>
              <a:rPr sz="1100" dirty="0" err="1">
                <a:solidFill>
                  <a:srgbClr val="202020"/>
                </a:solidFill>
                <a:latin typeface="Calibri"/>
              </a:rPr>
              <a:t>всех</a:t>
            </a:r>
            <a:r>
              <a:rPr sz="1100" dirty="0">
                <a:solidFill>
                  <a:srgbClr val="202020"/>
                </a:solidFill>
                <a:latin typeface="Calibri"/>
              </a:rPr>
              <a:t> </a:t>
            </a:r>
            <a:r>
              <a:rPr sz="1100" dirty="0" err="1">
                <a:solidFill>
                  <a:srgbClr val="202020"/>
                </a:solidFill>
                <a:latin typeface="Calibri"/>
              </a:rPr>
              <a:t>циклов</a:t>
            </a:r>
            <a:r>
              <a:rPr sz="1100" dirty="0">
                <a:solidFill>
                  <a:srgbClr val="202020"/>
                </a:solidFill>
                <a:latin typeface="Calibri"/>
              </a:rPr>
              <a:t> (+5…+11 </a:t>
            </a:r>
            <a:r>
              <a:rPr sz="1100" dirty="0" err="1">
                <a:solidFill>
                  <a:srgbClr val="202020"/>
                </a:solidFill>
                <a:latin typeface="Calibri"/>
              </a:rPr>
              <a:t>п.п</a:t>
            </a:r>
            <a:r>
              <a:rPr sz="1100" dirty="0">
                <a:solidFill>
                  <a:srgbClr val="202020"/>
                </a:solidFill>
                <a:latin typeface="Calibri"/>
              </a:rPr>
              <a:t>.).</a:t>
            </a:r>
          </a:p>
          <a:p>
            <a:pPr algn="l">
              <a:spcAft>
                <a:spcPts val="400"/>
              </a:spcAft>
            </a:pPr>
            <a:r>
              <a:rPr sz="1100" dirty="0">
                <a:solidFill>
                  <a:srgbClr val="202020"/>
                </a:solidFill>
                <a:latin typeface="Calibri"/>
              </a:rPr>
              <a:t>•  </a:t>
            </a:r>
            <a:r>
              <a:rPr sz="1100" dirty="0" err="1">
                <a:solidFill>
                  <a:srgbClr val="202020"/>
                </a:solidFill>
                <a:latin typeface="Calibri"/>
              </a:rPr>
              <a:t>R_worst</a:t>
            </a:r>
            <a:r>
              <a:rPr sz="1100" dirty="0">
                <a:solidFill>
                  <a:srgbClr val="202020"/>
                </a:solidFill>
                <a:latin typeface="Calibri"/>
              </a:rPr>
              <a:t> </a:t>
            </a:r>
            <a:r>
              <a:rPr sz="1100" dirty="0" err="1">
                <a:solidFill>
                  <a:srgbClr val="202020"/>
                </a:solidFill>
                <a:latin typeface="Calibri"/>
              </a:rPr>
              <a:t>на</a:t>
            </a:r>
            <a:r>
              <a:rPr sz="1100" dirty="0">
                <a:solidFill>
                  <a:srgbClr val="202020"/>
                </a:solidFill>
                <a:latin typeface="Calibri"/>
              </a:rPr>
              <a:t> </a:t>
            </a:r>
            <a:r>
              <a:rPr sz="1100" dirty="0" err="1">
                <a:solidFill>
                  <a:srgbClr val="202020"/>
                </a:solidFill>
                <a:latin typeface="Calibri"/>
              </a:rPr>
              <a:t>малом</a:t>
            </a:r>
            <a:r>
              <a:rPr sz="1100" dirty="0">
                <a:solidFill>
                  <a:srgbClr val="202020"/>
                </a:solidFill>
                <a:latin typeface="Calibri"/>
              </a:rPr>
              <a:t> </a:t>
            </a:r>
            <a:r>
              <a:rPr sz="1100" dirty="0" err="1">
                <a:solidFill>
                  <a:srgbClr val="202020"/>
                </a:solidFill>
                <a:latin typeface="Calibri"/>
              </a:rPr>
              <a:t>тесте</a:t>
            </a:r>
            <a:r>
              <a:rPr sz="1100" dirty="0">
                <a:solidFill>
                  <a:srgbClr val="202020"/>
                </a:solidFill>
                <a:latin typeface="Calibri"/>
              </a:rPr>
              <a:t> (15 </a:t>
            </a:r>
            <a:r>
              <a:rPr sz="1100" dirty="0" err="1">
                <a:solidFill>
                  <a:srgbClr val="202020"/>
                </a:solidFill>
                <a:latin typeface="Calibri"/>
              </a:rPr>
              <a:t>пользователей</a:t>
            </a:r>
            <a:r>
              <a:rPr sz="1100" dirty="0">
                <a:solidFill>
                  <a:srgbClr val="202020"/>
                </a:solidFill>
                <a:latin typeface="Calibri"/>
              </a:rPr>
              <a:t>) </a:t>
            </a:r>
            <a:r>
              <a:rPr sz="1100" dirty="0" err="1">
                <a:solidFill>
                  <a:srgbClr val="202020"/>
                </a:solidFill>
                <a:latin typeface="Calibri"/>
              </a:rPr>
              <a:t>зашумлён</a:t>
            </a:r>
            <a:r>
              <a:rPr sz="1100" dirty="0">
                <a:solidFill>
                  <a:srgbClr val="202020"/>
                </a:solidFill>
                <a:latin typeface="Calibri"/>
              </a:rPr>
              <a:t> — </a:t>
            </a:r>
            <a:r>
              <a:rPr sz="1100" dirty="0" err="1">
                <a:solidFill>
                  <a:srgbClr val="202020"/>
                </a:solidFill>
                <a:latin typeface="Calibri"/>
              </a:rPr>
              <a:t>для</a:t>
            </a:r>
            <a:r>
              <a:rPr sz="1100" dirty="0">
                <a:solidFill>
                  <a:srgbClr val="202020"/>
                </a:solidFill>
                <a:latin typeface="Calibri"/>
              </a:rPr>
              <a:t> </a:t>
            </a:r>
            <a:r>
              <a:rPr sz="1100" dirty="0" err="1">
                <a:solidFill>
                  <a:srgbClr val="202020"/>
                </a:solidFill>
                <a:latin typeface="Calibri"/>
              </a:rPr>
              <a:t>этой</a:t>
            </a:r>
            <a:r>
              <a:rPr sz="1100" dirty="0">
                <a:solidFill>
                  <a:srgbClr val="202020"/>
                </a:solidFill>
                <a:latin typeface="Calibri"/>
              </a:rPr>
              <a:t> </a:t>
            </a:r>
            <a:r>
              <a:rPr sz="1100" dirty="0" err="1">
                <a:solidFill>
                  <a:srgbClr val="202020"/>
                </a:solidFill>
                <a:latin typeface="Calibri"/>
              </a:rPr>
              <a:t>пары</a:t>
            </a:r>
            <a:r>
              <a:rPr sz="1100" dirty="0">
                <a:solidFill>
                  <a:srgbClr val="202020"/>
                </a:solidFill>
                <a:latin typeface="Calibri"/>
              </a:rPr>
              <a:t> </a:t>
            </a:r>
            <a:r>
              <a:rPr sz="1100" dirty="0" err="1">
                <a:solidFill>
                  <a:srgbClr val="202020"/>
                </a:solidFill>
                <a:latin typeface="Calibri"/>
              </a:rPr>
              <a:t>не</a:t>
            </a:r>
            <a:r>
              <a:rPr sz="1100" dirty="0">
                <a:solidFill>
                  <a:srgbClr val="202020"/>
                </a:solidFill>
                <a:latin typeface="Calibri"/>
              </a:rPr>
              <a:t> </a:t>
            </a:r>
            <a:r>
              <a:rPr sz="1100" dirty="0" err="1">
                <a:solidFill>
                  <a:srgbClr val="202020"/>
                </a:solidFill>
                <a:latin typeface="Calibri"/>
              </a:rPr>
              <a:t>делаем</a:t>
            </a:r>
            <a:r>
              <a:rPr sz="1100" dirty="0">
                <a:solidFill>
                  <a:srgbClr val="202020"/>
                </a:solidFill>
                <a:latin typeface="Calibri"/>
              </a:rPr>
              <a:t> </a:t>
            </a:r>
            <a:r>
              <a:rPr sz="1100" dirty="0" err="1">
                <a:solidFill>
                  <a:srgbClr val="202020"/>
                </a:solidFill>
                <a:latin typeface="Calibri"/>
              </a:rPr>
              <a:t>вывод</a:t>
            </a:r>
            <a:r>
              <a:rPr sz="1100" dirty="0">
                <a:solidFill>
                  <a:srgbClr val="202020"/>
                </a:solidFill>
                <a:latin typeface="Calibri"/>
              </a:rPr>
              <a:t> о </a:t>
            </a:r>
            <a:r>
              <a:rPr sz="1100" dirty="0" err="1">
                <a:solidFill>
                  <a:srgbClr val="202020"/>
                </a:solidFill>
                <a:latin typeface="Calibri"/>
              </a:rPr>
              <a:t>знаке</a:t>
            </a:r>
            <a:r>
              <a:rPr sz="1100" dirty="0">
                <a:solidFill>
                  <a:srgbClr val="202020"/>
                </a:solidFill>
                <a:latin typeface="Calibri"/>
              </a:rPr>
              <a:t>.</a:t>
            </a:r>
          </a:p>
          <a:p>
            <a:pPr algn="l">
              <a:spcAft>
                <a:spcPts val="400"/>
              </a:spcAft>
            </a:pPr>
            <a:r>
              <a:rPr sz="1100" dirty="0">
                <a:solidFill>
                  <a:srgbClr val="202020"/>
                </a:solidFill>
                <a:latin typeface="Calibri"/>
              </a:rPr>
              <a:t>•  </a:t>
            </a:r>
            <a:r>
              <a:rPr sz="1100" dirty="0" err="1">
                <a:solidFill>
                  <a:srgbClr val="202020"/>
                </a:solidFill>
                <a:latin typeface="Calibri"/>
              </a:rPr>
              <a:t>Именно</a:t>
            </a:r>
            <a:r>
              <a:rPr sz="1100" dirty="0">
                <a:solidFill>
                  <a:srgbClr val="202020"/>
                </a:solidFill>
                <a:latin typeface="Calibri"/>
              </a:rPr>
              <a:t> </a:t>
            </a:r>
            <a:r>
              <a:rPr sz="1100" dirty="0" err="1">
                <a:solidFill>
                  <a:srgbClr val="202020"/>
                </a:solidFill>
                <a:latin typeface="Calibri"/>
              </a:rPr>
              <a:t>это</a:t>
            </a:r>
            <a:r>
              <a:rPr sz="1100" dirty="0">
                <a:solidFill>
                  <a:srgbClr val="202020"/>
                </a:solidFill>
                <a:latin typeface="Calibri"/>
              </a:rPr>
              <a:t> </a:t>
            </a:r>
            <a:r>
              <a:rPr sz="1100" dirty="0" err="1">
                <a:solidFill>
                  <a:srgbClr val="202020"/>
                </a:solidFill>
                <a:latin typeface="Calibri"/>
              </a:rPr>
              <a:t>мотивировало</a:t>
            </a:r>
            <a:r>
              <a:rPr sz="1100" dirty="0">
                <a:solidFill>
                  <a:srgbClr val="202020"/>
                </a:solidFill>
                <a:latin typeface="Calibri"/>
              </a:rPr>
              <a:t> </a:t>
            </a:r>
            <a:r>
              <a:rPr sz="1100" dirty="0" err="1">
                <a:solidFill>
                  <a:srgbClr val="202020"/>
                </a:solidFill>
                <a:latin typeface="Calibri"/>
              </a:rPr>
              <a:t>масштабирование</a:t>
            </a:r>
            <a:r>
              <a:rPr sz="1100" dirty="0">
                <a:solidFill>
                  <a:srgbClr val="202020"/>
                </a:solidFill>
                <a:latin typeface="Calibri"/>
              </a:rPr>
              <a:t> </a:t>
            </a:r>
            <a:r>
              <a:rPr sz="1100" dirty="0" err="1">
                <a:solidFill>
                  <a:srgbClr val="202020"/>
                </a:solidFill>
                <a:latin typeface="Calibri"/>
              </a:rPr>
              <a:t>на</a:t>
            </a:r>
            <a:r>
              <a:rPr sz="1100" dirty="0">
                <a:solidFill>
                  <a:srgbClr val="202020"/>
                </a:solidFill>
                <a:latin typeface="Calibri"/>
              </a:rPr>
              <a:t> </a:t>
            </a:r>
            <a:r>
              <a:rPr sz="1100" dirty="0" err="1">
                <a:solidFill>
                  <a:srgbClr val="202020"/>
                </a:solidFill>
                <a:latin typeface="Calibri"/>
              </a:rPr>
              <a:t>все</a:t>
            </a:r>
            <a:r>
              <a:rPr sz="1100" dirty="0">
                <a:solidFill>
                  <a:srgbClr val="202020"/>
                </a:solidFill>
                <a:latin typeface="Calibri"/>
              </a:rPr>
              <a:t> </a:t>
            </a:r>
            <a:r>
              <a:rPr sz="1100" dirty="0" err="1">
                <a:solidFill>
                  <a:srgbClr val="202020"/>
                </a:solidFill>
                <a:latin typeface="Calibri"/>
              </a:rPr>
              <a:t>категории</a:t>
            </a:r>
            <a:r>
              <a:rPr sz="1100" dirty="0">
                <a:solidFill>
                  <a:srgbClr val="202020"/>
                </a:solidFill>
                <a:latin typeface="Calibri"/>
              </a:rPr>
              <a:t>.</a:t>
            </a:r>
          </a:p>
        </p:txBody>
      </p:sp>
      <p:sp>
        <p:nvSpPr>
          <p:cNvPr id="11" name="Rectangle 10"/>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3" name="TextBox 12"/>
          <p:cNvSpPr txBox="1"/>
          <p:nvPr/>
        </p:nvSpPr>
        <p:spPr>
          <a:xfrm>
            <a:off x="11247120" y="6601968"/>
            <a:ext cx="914400" cy="190821"/>
          </a:xfrm>
          <a:prstGeom prst="rect">
            <a:avLst/>
          </a:prstGeom>
          <a:noFill/>
        </p:spPr>
        <p:txBody>
          <a:bodyPr wrap="square" lIns="45720" tIns="18288" rIns="45720" bIns="18288">
            <a:spAutoFit/>
          </a:bodyPr>
          <a:lstStyle/>
          <a:p>
            <a:pPr algn="r"/>
            <a:r>
              <a:rPr lang="en-US" sz="1000" b="0" i="0" dirty="0">
                <a:solidFill>
                  <a:srgbClr val="FFFFFF"/>
                </a:solidFill>
                <a:latin typeface="Calibri"/>
              </a:rPr>
              <a:t>7</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pic>
        <p:nvPicPr>
          <p:cNvPr id="15" name="Рисунок 14">
            <a:extLst>
              <a:ext uri="{FF2B5EF4-FFF2-40B4-BE49-F238E27FC236}">
                <a16:creationId xmlns:a16="http://schemas.microsoft.com/office/drawing/2014/main" id="{0860E91E-CD63-434C-9708-26C3BCA40DC3}"/>
              </a:ext>
            </a:extLst>
          </p:cNvPr>
          <p:cNvPicPr>
            <a:picLocks noChangeAspect="1"/>
          </p:cNvPicPr>
          <p:nvPr/>
        </p:nvPicPr>
        <p:blipFill>
          <a:blip r:embed="rId3"/>
          <a:stretch>
            <a:fillRect/>
          </a:stretch>
        </p:blipFill>
        <p:spPr>
          <a:xfrm>
            <a:off x="3192890" y="5432928"/>
            <a:ext cx="4844511" cy="9945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11430000" cy="375487"/>
          </a:xfrm>
          <a:prstGeom prst="rect">
            <a:avLst/>
          </a:prstGeom>
          <a:noFill/>
        </p:spPr>
        <p:txBody>
          <a:bodyPr wrap="square" lIns="45720" tIns="18288" rIns="45720" bIns="18288">
            <a:spAutoFit/>
          </a:bodyPr>
          <a:lstStyle/>
          <a:p>
            <a:pPr algn="l"/>
            <a:r>
              <a:rPr sz="2200" b="1" i="0" dirty="0" err="1">
                <a:solidFill>
                  <a:srgbClr val="102040"/>
                </a:solidFill>
                <a:latin typeface="Calibri"/>
              </a:rPr>
              <a:t>Результаты</a:t>
            </a:r>
            <a:r>
              <a:rPr sz="2200" b="1" i="0" dirty="0">
                <a:solidFill>
                  <a:srgbClr val="102040"/>
                </a:solidFill>
                <a:latin typeface="Calibri"/>
              </a:rPr>
              <a:t> — </a:t>
            </a:r>
            <a:r>
              <a:rPr lang="ru-RU" sz="2200" b="1" i="0" dirty="0">
                <a:solidFill>
                  <a:srgbClr val="102040"/>
                </a:solidFill>
                <a:latin typeface="Calibri"/>
              </a:rPr>
              <a:t>график изменения метрик</a:t>
            </a:r>
            <a:endParaRPr sz="2200" b="1" i="0" dirty="0">
              <a:solidFill>
                <a:srgbClr val="102040"/>
              </a:solidFill>
              <a:latin typeface="Calibri"/>
            </a:endParaRPr>
          </a:p>
        </p:txBody>
      </p:sp>
      <p:sp>
        <p:nvSpPr>
          <p:cNvPr id="3" name="Rectangle 2"/>
          <p:cNvSpPr/>
          <p:nvPr/>
        </p:nvSpPr>
        <p:spPr>
          <a:xfrm>
            <a:off x="457200" y="731520"/>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73202" y="4183388"/>
            <a:ext cx="5623560" cy="196596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3" name="TextBox 12"/>
          <p:cNvSpPr txBox="1"/>
          <p:nvPr/>
        </p:nvSpPr>
        <p:spPr>
          <a:xfrm>
            <a:off x="11247120" y="6601968"/>
            <a:ext cx="914400" cy="190821"/>
          </a:xfrm>
          <a:prstGeom prst="rect">
            <a:avLst/>
          </a:prstGeom>
          <a:noFill/>
        </p:spPr>
        <p:txBody>
          <a:bodyPr wrap="square" lIns="45720" tIns="18288" rIns="45720" bIns="18288">
            <a:spAutoFit/>
          </a:bodyPr>
          <a:lstStyle/>
          <a:p>
            <a:pPr algn="r"/>
            <a:r>
              <a:rPr lang="en-US" sz="1000" b="0" i="0" dirty="0">
                <a:solidFill>
                  <a:srgbClr val="FFFFFF"/>
                </a:solidFill>
                <a:latin typeface="Calibri"/>
              </a:rPr>
              <a:t>8</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pic>
        <p:nvPicPr>
          <p:cNvPr id="16" name="Рисунок 15">
            <a:extLst>
              <a:ext uri="{FF2B5EF4-FFF2-40B4-BE49-F238E27FC236}">
                <a16:creationId xmlns:a16="http://schemas.microsoft.com/office/drawing/2014/main" id="{77DB512E-518E-40BE-B1E6-5DE433687235}"/>
              </a:ext>
            </a:extLst>
          </p:cNvPr>
          <p:cNvPicPr>
            <a:picLocks noChangeAspect="1"/>
          </p:cNvPicPr>
          <p:nvPr/>
        </p:nvPicPr>
        <p:blipFill>
          <a:blip r:embed="rId2"/>
          <a:stretch>
            <a:fillRect/>
          </a:stretch>
        </p:blipFill>
        <p:spPr>
          <a:xfrm>
            <a:off x="2923751" y="811671"/>
            <a:ext cx="5710146" cy="5710146"/>
          </a:xfrm>
          <a:prstGeom prst="rect">
            <a:avLst/>
          </a:prstGeom>
        </p:spPr>
      </p:pic>
    </p:spTree>
    <p:extLst>
      <p:ext uri="{BB962C8B-B14F-4D97-AF65-F5344CB8AC3E}">
        <p14:creationId xmlns:p14="http://schemas.microsoft.com/office/powerpoint/2010/main" val="1898102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430000" cy="502920"/>
          </a:xfrm>
          <a:prstGeom prst="rect">
            <a:avLst/>
          </a:prstGeom>
          <a:noFill/>
        </p:spPr>
        <p:txBody>
          <a:bodyPr wrap="square" lIns="45720" tIns="18288" rIns="45720" bIns="18288">
            <a:spAutoFit/>
          </a:bodyPr>
          <a:lstStyle/>
          <a:p>
            <a:pPr algn="l"/>
            <a:r>
              <a:rPr sz="2300" b="1" i="0">
                <a:solidFill>
                  <a:srgbClr val="102040"/>
                </a:solidFill>
                <a:latin typeface="Calibri"/>
              </a:rPr>
              <a:t>Демо-отчёт 1 — что получил генератор синтетики</a:t>
            </a:r>
          </a:p>
        </p:txBody>
      </p:sp>
      <p:sp>
        <p:nvSpPr>
          <p:cNvPr id="3" name="Rectangle 2"/>
          <p:cNvSpPr/>
          <p:nvPr/>
        </p:nvSpPr>
        <p:spPr>
          <a:xfrm>
            <a:off x="457200" y="804672"/>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960120"/>
            <a:ext cx="3657600" cy="544068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42415"/>
            <a:ext cx="3429000" cy="320040"/>
          </a:xfrm>
          <a:prstGeom prst="rect">
            <a:avLst/>
          </a:prstGeom>
          <a:noFill/>
        </p:spPr>
        <p:txBody>
          <a:bodyPr wrap="square" lIns="45720" tIns="18288" rIns="45720" bIns="18288">
            <a:spAutoFit/>
          </a:bodyPr>
          <a:lstStyle/>
          <a:p>
            <a:pPr algn="l"/>
            <a:r>
              <a:rPr sz="1400" b="1" i="0">
                <a:solidFill>
                  <a:srgbClr val="102040"/>
                </a:solidFill>
                <a:latin typeface="Calibri"/>
              </a:rPr>
              <a:t>Конфигурация генерации</a:t>
            </a:r>
          </a:p>
        </p:txBody>
      </p:sp>
      <p:sp>
        <p:nvSpPr>
          <p:cNvPr id="6" name="TextBox 5"/>
          <p:cNvSpPr txBox="1"/>
          <p:nvPr/>
        </p:nvSpPr>
        <p:spPr>
          <a:xfrm>
            <a:off x="658368" y="1417320"/>
            <a:ext cx="3337560" cy="1920240"/>
          </a:xfrm>
          <a:prstGeom prst="rect">
            <a:avLst/>
          </a:prstGeom>
          <a:noFill/>
        </p:spPr>
        <p:txBody>
          <a:bodyPr wrap="square" lIns="45720" tIns="18288" rIns="45720" bIns="18288">
            <a:spAutoFit/>
          </a:bodyPr>
          <a:lstStyle/>
          <a:p>
            <a:pPr algn="l"/>
            <a:r>
              <a:rPr sz="900" b="0" i="0">
                <a:solidFill>
                  <a:srgbClr val="202020"/>
                </a:solidFill>
                <a:latin typeface="Calibri"/>
              </a:rPr>
              <a:t>synthetic_fewshot_manifest.json:</a:t>
            </a:r>
          </a:p>
          <a:p>
            <a:pPr algn="l"/>
            <a:r>
              <a:rPr sz="900" b="0" i="0">
                <a:solidFill>
                  <a:srgbClr val="202020"/>
                </a:solidFill>
                <a:latin typeface="Calibri"/>
              </a:rPr>
              <a:t>{</a:t>
            </a:r>
          </a:p>
          <a:p>
            <a:pPr algn="l"/>
            <a:r>
              <a:rPr sz="900" b="0" i="0">
                <a:solidFill>
                  <a:srgbClr val="202020"/>
                </a:solidFill>
                <a:latin typeface="Calibri"/>
              </a:rPr>
              <a:t>  "enabled": true,</a:t>
            </a:r>
          </a:p>
          <a:p>
            <a:pPr algn="l"/>
            <a:r>
              <a:rPr sz="900" b="0" i="0">
                <a:solidFill>
                  <a:srgbClr val="202020"/>
                </a:solidFill>
                <a:latin typeface="Calibri"/>
              </a:rPr>
              <a:t>  "status": "ok",</a:t>
            </a:r>
          </a:p>
          <a:p>
            <a:pPr algn="l"/>
            <a:r>
              <a:rPr sz="900" b="0" i="0">
                <a:solidFill>
                  <a:srgbClr val="202020"/>
                </a:solidFill>
                <a:latin typeface="Calibri"/>
              </a:rPr>
              <a:t>  "meta": {</a:t>
            </a:r>
          </a:p>
          <a:p>
            <a:pPr algn="l"/>
            <a:r>
              <a:rPr sz="900" b="0" i="0">
                <a:solidFill>
                  <a:srgbClr val="202020"/>
                </a:solidFill>
                <a:latin typeface="Calibri"/>
              </a:rPr>
              <a:t>    "mode": "inject_as_hint",</a:t>
            </a:r>
          </a:p>
          <a:p>
            <a:pPr algn="l"/>
            <a:r>
              <a:rPr sz="900" b="0" i="0">
                <a:solidFill>
                  <a:srgbClr val="202020"/>
                </a:solidFill>
                <a:latin typeface="Calibri"/>
              </a:rPr>
              <a:t>    "hint_in_system_message": true,</a:t>
            </a:r>
          </a:p>
          <a:p>
            <a:pPr algn="l"/>
            <a:r>
              <a:rPr sz="900" b="0" i="0">
                <a:solidFill>
                  <a:srgbClr val="202020"/>
                </a:solidFill>
                <a:latin typeface="Calibri"/>
              </a:rPr>
              <a:t>    "n_hard_samples": 8,</a:t>
            </a:r>
          </a:p>
          <a:p>
            <a:pPr algn="l"/>
            <a:r>
              <a:rPr sz="900" b="0" i="0">
                <a:solidFill>
                  <a:srgbClr val="202020"/>
                </a:solidFill>
                <a:latin typeface="Calibri"/>
              </a:rPr>
              <a:t>    "n_examples_target": 8,</a:t>
            </a:r>
          </a:p>
          <a:p>
            <a:pPr algn="l"/>
            <a:r>
              <a:rPr sz="900" b="0" i="0">
                <a:solidFill>
                  <a:srgbClr val="202020"/>
                </a:solidFill>
                <a:latin typeface="Calibri"/>
              </a:rPr>
              <a:t>    "n_boundary_pairs_target": 4</a:t>
            </a:r>
          </a:p>
          <a:p>
            <a:pPr algn="l"/>
            <a:r>
              <a:rPr sz="900" b="0" i="0">
                <a:solidFill>
                  <a:srgbClr val="202020"/>
                </a:solidFill>
                <a:latin typeface="Calibri"/>
              </a:rPr>
              <a:t>  }</a:t>
            </a:r>
          </a:p>
          <a:p>
            <a:pPr algn="l"/>
            <a:r>
              <a:rPr sz="900" b="0" i="0">
                <a:solidFill>
                  <a:srgbClr val="202020"/>
                </a:solidFill>
                <a:latin typeface="Calibri"/>
              </a:rPr>
              <a:t>}</a:t>
            </a:r>
          </a:p>
        </p:txBody>
      </p:sp>
      <p:sp>
        <p:nvSpPr>
          <p:cNvPr id="9" name="Rectangle 8"/>
          <p:cNvSpPr/>
          <p:nvPr/>
        </p:nvSpPr>
        <p:spPr>
          <a:xfrm>
            <a:off x="4389120" y="960120"/>
            <a:ext cx="3657600" cy="5440680"/>
          </a:xfrm>
          <a:prstGeom prst="rect">
            <a:avLst/>
          </a:prstGeom>
          <a:solidFill>
            <a:srgbClr val="FFFFFF"/>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042415"/>
            <a:ext cx="3429000" cy="320040"/>
          </a:xfrm>
          <a:prstGeom prst="rect">
            <a:avLst/>
          </a:prstGeom>
          <a:noFill/>
        </p:spPr>
        <p:txBody>
          <a:bodyPr wrap="square" lIns="45720" tIns="18288" rIns="45720" bIns="18288">
            <a:spAutoFit/>
          </a:bodyPr>
          <a:lstStyle/>
          <a:p>
            <a:pPr algn="l"/>
            <a:r>
              <a:rPr sz="1300" b="1" i="0">
                <a:solidFill>
                  <a:srgbClr val="102040"/>
                </a:solidFill>
                <a:latin typeface="Calibri"/>
              </a:rPr>
              <a:t>Контекст из _build_messages()</a:t>
            </a:r>
          </a:p>
        </p:txBody>
      </p:sp>
      <p:sp>
        <p:nvSpPr>
          <p:cNvPr id="11" name="TextBox 10"/>
          <p:cNvSpPr txBox="1"/>
          <p:nvPr/>
        </p:nvSpPr>
        <p:spPr>
          <a:xfrm>
            <a:off x="4498848" y="1417320"/>
            <a:ext cx="3383280" cy="4526280"/>
          </a:xfrm>
          <a:prstGeom prst="rect">
            <a:avLst/>
          </a:prstGeom>
          <a:noFill/>
        </p:spPr>
        <p:txBody>
          <a:bodyPr wrap="square">
            <a:spAutoFit/>
          </a:bodyPr>
          <a:lstStyle/>
          <a:p>
            <a:pPr algn="l">
              <a:spcAft>
                <a:spcPts val="400"/>
              </a:spcAft>
            </a:pPr>
            <a:r>
              <a:rPr sz="1000" b="1">
                <a:solidFill>
                  <a:srgbClr val="202020"/>
                </a:solidFill>
                <a:latin typeface="Calibri"/>
              </a:rPr>
              <a:t>•  Top confusion pairs:</a:t>
            </a:r>
            <a:r>
              <a:rPr sz="1000">
                <a:solidFill>
                  <a:srgbClr val="202020"/>
                </a:solidFill>
                <a:latin typeface="Calibri"/>
              </a:rPr>
              <a:t>  какие соседние рейтинги ансамбль путает чаще всего.</a:t>
            </a:r>
          </a:p>
          <a:p>
            <a:pPr algn="l">
              <a:spcAft>
                <a:spcPts val="400"/>
              </a:spcAft>
            </a:pPr>
            <a:r>
              <a:rPr sz="1000" b="1">
                <a:solidFill>
                  <a:srgbClr val="202020"/>
                </a:solidFill>
                <a:latin typeface="Calibri"/>
              </a:rPr>
              <a:t>•  Current DynamicRules:</a:t>
            </a:r>
            <a:r>
              <a:rPr sz="1000">
                <a:solidFill>
                  <a:srgbClr val="202020"/>
                </a:solidFill>
                <a:latin typeface="Calibri"/>
              </a:rPr>
              <a:t>  текущие правила промпта и границы рейтингов.</a:t>
            </a:r>
          </a:p>
          <a:p>
            <a:pPr algn="l">
              <a:spcAft>
                <a:spcPts val="400"/>
              </a:spcAft>
            </a:pPr>
            <a:r>
              <a:rPr sz="1000" b="1">
                <a:solidFill>
                  <a:srgbClr val="202020"/>
                </a:solidFill>
                <a:latin typeface="Calibri"/>
              </a:rPr>
              <a:t>•  Current FewShotExamples:</a:t>
            </a:r>
            <a:r>
              <a:rPr sz="1000">
                <a:solidFill>
                  <a:srgbClr val="202020"/>
                </a:solidFill>
                <a:latin typeface="Calibri"/>
              </a:rPr>
              <a:t>  реальные few-shot, которые можно улучшить.</a:t>
            </a:r>
          </a:p>
          <a:p>
            <a:pPr algn="l">
              <a:spcAft>
                <a:spcPts val="400"/>
              </a:spcAft>
            </a:pPr>
            <a:r>
              <a:rPr sz="1000" b="1">
                <a:solidFill>
                  <a:srgbClr val="202020"/>
                </a:solidFill>
                <a:latin typeface="Calibri"/>
              </a:rPr>
              <a:t>•  Hard examples:</a:t>
            </a:r>
            <a:r>
              <a:rPr sz="1000">
                <a:solidFill>
                  <a:srgbClr val="202020"/>
                </a:solidFill>
                <a:latin typeface="Calibri"/>
              </a:rPr>
              <a:t>  до 8 отзывов из hard-контекста активного батча.</a:t>
            </a:r>
          </a:p>
          <a:p>
            <a:pPr algn="l">
              <a:spcAft>
                <a:spcPts val="400"/>
              </a:spcAft>
            </a:pPr>
            <a:r>
              <a:rPr sz="1000" b="1">
                <a:solidFill>
                  <a:srgbClr val="202020"/>
                </a:solidFill>
                <a:latin typeface="Calibri"/>
              </a:rPr>
              <a:t>•  Requirements:</a:t>
            </a:r>
            <a:r>
              <a:rPr sz="1000">
                <a:solidFill>
                  <a:srgbClr val="202020"/>
                </a:solidFill>
                <a:latin typeface="Calibri"/>
              </a:rPr>
              <a:t>  только синтетика, покрытие 1..5, контрастные пары, формат Rating: N.</a:t>
            </a:r>
          </a:p>
        </p:txBody>
      </p:sp>
      <p:sp>
        <p:nvSpPr>
          <p:cNvPr id="12" name="Rectangle 11"/>
          <p:cNvSpPr/>
          <p:nvPr/>
        </p:nvSpPr>
        <p:spPr>
          <a:xfrm>
            <a:off x="8275320" y="960120"/>
            <a:ext cx="3474720" cy="5440680"/>
          </a:xfrm>
          <a:prstGeom prst="rect">
            <a:avLst/>
          </a:prstGeom>
          <a:solidFill>
            <a:srgbClr val="FEF7E0"/>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0" y="1042415"/>
            <a:ext cx="3246120" cy="236988"/>
          </a:xfrm>
          <a:prstGeom prst="rect">
            <a:avLst/>
          </a:prstGeom>
          <a:noFill/>
        </p:spPr>
        <p:txBody>
          <a:bodyPr wrap="square" lIns="45720" tIns="18288" rIns="45720" bIns="18288">
            <a:spAutoFit/>
          </a:bodyPr>
          <a:lstStyle/>
          <a:p>
            <a:pPr algn="l"/>
            <a:r>
              <a:rPr lang="ru-RU" sz="1300" b="1" i="0" dirty="0">
                <a:solidFill>
                  <a:srgbClr val="102040"/>
                </a:solidFill>
                <a:latin typeface="Calibri"/>
              </a:rPr>
              <a:t>Важные замечания</a:t>
            </a:r>
            <a:endParaRPr sz="1300" b="1" i="0" dirty="0">
              <a:solidFill>
                <a:srgbClr val="102040"/>
              </a:solidFill>
              <a:latin typeface="Calibri"/>
            </a:endParaRPr>
          </a:p>
        </p:txBody>
      </p:sp>
      <p:sp>
        <p:nvSpPr>
          <p:cNvPr id="14" name="TextBox 13"/>
          <p:cNvSpPr txBox="1"/>
          <p:nvPr/>
        </p:nvSpPr>
        <p:spPr>
          <a:xfrm>
            <a:off x="8366760" y="1417320"/>
            <a:ext cx="3246120" cy="3474720"/>
          </a:xfrm>
          <a:prstGeom prst="rect">
            <a:avLst/>
          </a:prstGeom>
          <a:noFill/>
        </p:spPr>
        <p:txBody>
          <a:bodyPr wrap="square">
            <a:spAutoFit/>
          </a:bodyPr>
          <a:lstStyle/>
          <a:p>
            <a:pPr algn="l">
              <a:spcAft>
                <a:spcPts val="400"/>
              </a:spcAft>
            </a:pPr>
            <a:r>
              <a:rPr sz="1000">
                <a:solidFill>
                  <a:srgbClr val="202020"/>
                </a:solidFill>
                <a:latin typeface="Calibri"/>
              </a:rPr>
              <a:t>•  Синтетика не генерируется случайно.</a:t>
            </a:r>
          </a:p>
          <a:p>
            <a:pPr algn="l">
              <a:spcAft>
                <a:spcPts val="400"/>
              </a:spcAft>
            </a:pPr>
            <a:r>
              <a:rPr sz="1000">
                <a:solidFill>
                  <a:srgbClr val="202020"/>
                </a:solidFill>
                <a:latin typeface="Calibri"/>
              </a:rPr>
              <a:t>•  Она строится на ошибках текущего промпта и реальных hard-примерах.</a:t>
            </a:r>
          </a:p>
          <a:p>
            <a:pPr algn="l">
              <a:spcAft>
                <a:spcPts val="400"/>
              </a:spcAft>
            </a:pPr>
            <a:r>
              <a:rPr sz="1000">
                <a:solidFill>
                  <a:srgbClr val="202020"/>
                </a:solidFill>
                <a:latin typeface="Calibri"/>
              </a:rPr>
              <a:t>•  В режиме inject_as_hint это не жёсткая подмена: мутатор берёт только полезные фрагменты.</a:t>
            </a:r>
          </a:p>
        </p:txBody>
      </p:sp>
      <p:sp>
        <p:nvSpPr>
          <p:cNvPr id="16" name="Rectangle 15"/>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8" name="TextBox 17"/>
          <p:cNvSpPr txBox="1"/>
          <p:nvPr/>
        </p:nvSpPr>
        <p:spPr>
          <a:xfrm>
            <a:off x="11247120" y="6601968"/>
            <a:ext cx="914400" cy="190821"/>
          </a:xfrm>
          <a:prstGeom prst="rect">
            <a:avLst/>
          </a:prstGeom>
          <a:noFill/>
        </p:spPr>
        <p:txBody>
          <a:bodyPr wrap="square" lIns="45720" tIns="18288" rIns="45720" bIns="18288">
            <a:spAutoFit/>
          </a:bodyPr>
          <a:lstStyle/>
          <a:p>
            <a:pPr algn="r"/>
            <a:r>
              <a:rPr lang="en-US" sz="1000" b="0" i="0" dirty="0">
                <a:solidFill>
                  <a:srgbClr val="FFFFFF"/>
                </a:solidFill>
                <a:latin typeface="Calibri"/>
              </a:rPr>
              <a:t>9</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430000" cy="502920"/>
          </a:xfrm>
          <a:prstGeom prst="rect">
            <a:avLst/>
          </a:prstGeom>
          <a:noFill/>
        </p:spPr>
        <p:txBody>
          <a:bodyPr wrap="square" lIns="45720" tIns="18288" rIns="45720" bIns="18288">
            <a:spAutoFit/>
          </a:bodyPr>
          <a:lstStyle/>
          <a:p>
            <a:pPr algn="l"/>
            <a:r>
              <a:rPr sz="2300" b="1" i="0">
                <a:solidFill>
                  <a:srgbClr val="102040"/>
                </a:solidFill>
                <a:latin typeface="Calibri"/>
              </a:rPr>
              <a:t>Демо-отчёт 2 — сгенерированная пара 5★ / 4★</a:t>
            </a:r>
          </a:p>
        </p:txBody>
      </p:sp>
      <p:sp>
        <p:nvSpPr>
          <p:cNvPr id="3" name="Rectangle 2"/>
          <p:cNvSpPr/>
          <p:nvPr/>
        </p:nvSpPr>
        <p:spPr>
          <a:xfrm>
            <a:off x="457200" y="804672"/>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60120"/>
            <a:ext cx="11247120" cy="320040"/>
          </a:xfrm>
          <a:prstGeom prst="rect">
            <a:avLst/>
          </a:prstGeom>
          <a:noFill/>
        </p:spPr>
        <p:txBody>
          <a:bodyPr wrap="square" lIns="45720" tIns="18288" rIns="45720" bIns="18288">
            <a:spAutoFit/>
          </a:bodyPr>
          <a:lstStyle/>
          <a:p>
            <a:pPr algn="l"/>
            <a:r>
              <a:rPr sz="1000" b="0" i="1">
                <a:solidFill>
                  <a:srgbClr val="555555"/>
                </a:solidFill>
                <a:latin typeface="Calibri"/>
              </a:rPr>
              <a:t>Источник: results_all_categories_evolve_subsample/al_iter_5/synthetic_fewshot_examples.txt</a:t>
            </a:r>
          </a:p>
        </p:txBody>
      </p:sp>
      <p:sp>
        <p:nvSpPr>
          <p:cNvPr id="5" name="Rectangle 4"/>
          <p:cNvSpPr/>
          <p:nvPr/>
        </p:nvSpPr>
        <p:spPr>
          <a:xfrm>
            <a:off x="548640" y="1417320"/>
            <a:ext cx="5486400" cy="4114800"/>
          </a:xfrm>
          <a:prstGeom prst="rect">
            <a:avLst/>
          </a:prstGeom>
          <a:solidFill>
            <a:srgbClr val="E6F4EA"/>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72768"/>
            <a:ext cx="5120640" cy="320040"/>
          </a:xfrm>
          <a:prstGeom prst="rect">
            <a:avLst/>
          </a:prstGeom>
          <a:noFill/>
        </p:spPr>
        <p:txBody>
          <a:bodyPr wrap="square" lIns="45720" tIns="18288" rIns="45720" bIns="18288">
            <a:spAutoFit/>
          </a:bodyPr>
          <a:lstStyle/>
          <a:p>
            <a:pPr algn="l"/>
            <a:r>
              <a:rPr sz="1500" b="1" i="0">
                <a:solidFill>
                  <a:srgbClr val="102040"/>
                </a:solidFill>
                <a:latin typeface="Calibri"/>
              </a:rPr>
              <a:t>Example 2 — Rating: 5</a:t>
            </a:r>
          </a:p>
        </p:txBody>
      </p:sp>
      <p:sp>
        <p:nvSpPr>
          <p:cNvPr id="7" name="TextBox 6"/>
          <p:cNvSpPr txBox="1"/>
          <p:nvPr/>
        </p:nvSpPr>
        <p:spPr>
          <a:xfrm>
            <a:off x="731520" y="1993392"/>
            <a:ext cx="5074920" cy="2697480"/>
          </a:xfrm>
          <a:prstGeom prst="rect">
            <a:avLst/>
          </a:prstGeom>
          <a:noFill/>
        </p:spPr>
        <p:txBody>
          <a:bodyPr wrap="square" lIns="45720" tIns="18288" rIns="45720" bIns="18288">
            <a:spAutoFit/>
          </a:bodyPr>
          <a:lstStyle/>
          <a:p>
            <a:pPr algn="l"/>
            <a:r>
              <a:rPr sz="1300" b="0" i="0">
                <a:solidFill>
                  <a:srgbClr val="202020"/>
                </a:solidFill>
                <a:latin typeface="Calibri"/>
              </a:rPr>
              <a:t>Review: I am so happy with this coffee maker! It brews the perfect pot of coffee, it's easy to clean, and it looks great on my counter. Some people mentioned the 30-minute auto-shutoff for the warmer, but I actually love that feature for safety and so the coffee doesn't get burnt. It's exactly what I wanted. Highly recommend!</a:t>
            </a:r>
          </a:p>
        </p:txBody>
      </p:sp>
      <p:sp>
        <p:nvSpPr>
          <p:cNvPr id="8" name="Rectangle 7"/>
          <p:cNvSpPr/>
          <p:nvPr/>
        </p:nvSpPr>
        <p:spPr>
          <a:xfrm>
            <a:off x="731520" y="4800600"/>
            <a:ext cx="5074920" cy="502920"/>
          </a:xfrm>
          <a:prstGeom prst="rect">
            <a:avLst/>
          </a:prstGeom>
          <a:solidFill>
            <a:srgbClr val="FFFFFF"/>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4901184"/>
            <a:ext cx="4800600" cy="206210"/>
          </a:xfrm>
          <a:prstGeom prst="rect">
            <a:avLst/>
          </a:prstGeom>
          <a:noFill/>
        </p:spPr>
        <p:txBody>
          <a:bodyPr wrap="square" lIns="45720" tIns="18288" rIns="45720" bIns="18288">
            <a:spAutoFit/>
          </a:bodyPr>
          <a:lstStyle/>
          <a:p>
            <a:pPr algn="l"/>
            <a:r>
              <a:rPr sz="1100" b="1" i="0" dirty="0" err="1">
                <a:solidFill>
                  <a:srgbClr val="102040"/>
                </a:solidFill>
                <a:latin typeface="Calibri"/>
              </a:rPr>
              <a:t>Смысл</a:t>
            </a:r>
            <a:r>
              <a:rPr sz="1100" b="1" i="0" dirty="0">
                <a:solidFill>
                  <a:srgbClr val="102040"/>
                </a:solidFill>
                <a:latin typeface="Calibri"/>
              </a:rPr>
              <a:t>: </a:t>
            </a:r>
            <a:r>
              <a:rPr sz="1100" b="1" i="0" dirty="0" err="1">
                <a:solidFill>
                  <a:srgbClr val="102040"/>
                </a:solidFill>
                <a:latin typeface="Calibri"/>
              </a:rPr>
              <a:t>без</a:t>
            </a:r>
            <a:r>
              <a:rPr sz="1100" b="1" i="0" dirty="0">
                <a:solidFill>
                  <a:srgbClr val="102040"/>
                </a:solidFill>
                <a:latin typeface="Calibri"/>
              </a:rPr>
              <a:t> </a:t>
            </a:r>
            <a:r>
              <a:rPr sz="1100" b="1" i="0" dirty="0" err="1">
                <a:solidFill>
                  <a:srgbClr val="102040"/>
                </a:solidFill>
                <a:latin typeface="Calibri"/>
              </a:rPr>
              <a:t>существенных</a:t>
            </a:r>
            <a:r>
              <a:rPr sz="1100" b="1" i="0" dirty="0">
                <a:solidFill>
                  <a:srgbClr val="102040"/>
                </a:solidFill>
                <a:latin typeface="Calibri"/>
              </a:rPr>
              <a:t> </a:t>
            </a:r>
            <a:r>
              <a:rPr sz="1100" b="1" i="0" dirty="0" err="1">
                <a:solidFill>
                  <a:srgbClr val="102040"/>
                </a:solidFill>
                <a:latin typeface="Calibri"/>
              </a:rPr>
              <a:t>недостатков</a:t>
            </a:r>
            <a:r>
              <a:rPr lang="ru-RU" sz="1100" b="1" i="0" dirty="0">
                <a:solidFill>
                  <a:srgbClr val="102040"/>
                </a:solidFill>
                <a:latin typeface="Calibri"/>
              </a:rPr>
              <a:t>, много плюсов</a:t>
            </a:r>
            <a:r>
              <a:rPr sz="1100" b="1" i="0" dirty="0">
                <a:solidFill>
                  <a:srgbClr val="102040"/>
                </a:solidFill>
                <a:latin typeface="Calibri"/>
              </a:rPr>
              <a:t> → </a:t>
            </a:r>
            <a:r>
              <a:rPr sz="1100" b="1" i="0" dirty="0" err="1">
                <a:solidFill>
                  <a:srgbClr val="102040"/>
                </a:solidFill>
                <a:latin typeface="Calibri"/>
              </a:rPr>
              <a:t>уверенные</a:t>
            </a:r>
            <a:r>
              <a:rPr sz="1100" b="1" i="0" dirty="0">
                <a:solidFill>
                  <a:srgbClr val="102040"/>
                </a:solidFill>
                <a:latin typeface="Calibri"/>
              </a:rPr>
              <a:t> 5★.</a:t>
            </a:r>
          </a:p>
        </p:txBody>
      </p:sp>
      <p:sp>
        <p:nvSpPr>
          <p:cNvPr id="10" name="Rectangle 9"/>
          <p:cNvSpPr/>
          <p:nvPr/>
        </p:nvSpPr>
        <p:spPr>
          <a:xfrm>
            <a:off x="6263640" y="1417320"/>
            <a:ext cx="5486400" cy="4114800"/>
          </a:xfrm>
          <a:prstGeom prst="rect">
            <a:avLst/>
          </a:prstGeom>
          <a:solidFill>
            <a:srgbClr val="FEF7E0"/>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572768"/>
            <a:ext cx="5120640" cy="320040"/>
          </a:xfrm>
          <a:prstGeom prst="rect">
            <a:avLst/>
          </a:prstGeom>
          <a:noFill/>
        </p:spPr>
        <p:txBody>
          <a:bodyPr wrap="square" lIns="45720" tIns="18288" rIns="45720" bIns="18288">
            <a:spAutoFit/>
          </a:bodyPr>
          <a:lstStyle/>
          <a:p>
            <a:pPr algn="l"/>
            <a:r>
              <a:rPr sz="1500" b="1" i="0">
                <a:solidFill>
                  <a:srgbClr val="102040"/>
                </a:solidFill>
                <a:latin typeface="Calibri"/>
              </a:rPr>
              <a:t>Example 1 — Rating: 4</a:t>
            </a:r>
          </a:p>
        </p:txBody>
      </p:sp>
      <p:sp>
        <p:nvSpPr>
          <p:cNvPr id="12" name="TextBox 11"/>
          <p:cNvSpPr txBox="1"/>
          <p:nvPr/>
        </p:nvSpPr>
        <p:spPr>
          <a:xfrm>
            <a:off x="6446520" y="1993392"/>
            <a:ext cx="5074920" cy="2697480"/>
          </a:xfrm>
          <a:prstGeom prst="rect">
            <a:avLst/>
          </a:prstGeom>
          <a:noFill/>
        </p:spPr>
        <p:txBody>
          <a:bodyPr wrap="square" lIns="45720" tIns="18288" rIns="45720" bIns="18288">
            <a:spAutoFit/>
          </a:bodyPr>
          <a:lstStyle/>
          <a:p>
            <a:pPr algn="l"/>
            <a:r>
              <a:rPr sz="1300" b="0" i="0">
                <a:solidFill>
                  <a:srgbClr val="202020"/>
                </a:solidFill>
                <a:latin typeface="Calibri"/>
              </a:rPr>
              <a:t>Review: This coffee maker is pretty good. It brews a full pot quickly and the coffee tastes great. My only real complaint is that the warming plate only stays on for 30 minutes before shutting off, so I often come back for a second cup and find it's cold. I wish it stayed on longer, but otherwise, it's a solid machine for the price.</a:t>
            </a:r>
          </a:p>
        </p:txBody>
      </p:sp>
      <p:sp>
        <p:nvSpPr>
          <p:cNvPr id="13" name="Rectangle 12"/>
          <p:cNvSpPr/>
          <p:nvPr/>
        </p:nvSpPr>
        <p:spPr>
          <a:xfrm>
            <a:off x="6446520" y="4800600"/>
            <a:ext cx="5074920" cy="502920"/>
          </a:xfrm>
          <a:prstGeom prst="rect">
            <a:avLst/>
          </a:prstGeom>
          <a:solidFill>
            <a:srgbClr val="FFFFFF"/>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4901184"/>
            <a:ext cx="4800600" cy="274320"/>
          </a:xfrm>
          <a:prstGeom prst="rect">
            <a:avLst/>
          </a:prstGeom>
          <a:noFill/>
        </p:spPr>
        <p:txBody>
          <a:bodyPr wrap="square" lIns="45720" tIns="18288" rIns="45720" bIns="18288">
            <a:spAutoFit/>
          </a:bodyPr>
          <a:lstStyle/>
          <a:p>
            <a:pPr algn="l"/>
            <a:r>
              <a:rPr sz="1100" b="1" i="0">
                <a:solidFill>
                  <a:srgbClr val="102040"/>
                </a:solidFill>
                <a:latin typeface="Calibri"/>
              </a:rPr>
              <a:t>Смысл: хороший товар + важный, но не fatal complaint → 4★.</a:t>
            </a:r>
          </a:p>
        </p:txBody>
      </p:sp>
      <p:sp>
        <p:nvSpPr>
          <p:cNvPr id="15" name="TextBox 14"/>
          <p:cNvSpPr txBox="1"/>
          <p:nvPr/>
        </p:nvSpPr>
        <p:spPr>
          <a:xfrm>
            <a:off x="594360" y="5715000"/>
            <a:ext cx="10972800" cy="256032"/>
          </a:xfrm>
          <a:prstGeom prst="rect">
            <a:avLst/>
          </a:prstGeom>
          <a:noFill/>
        </p:spPr>
        <p:txBody>
          <a:bodyPr wrap="square" lIns="45720" tIns="18288" rIns="45720" bIns="18288">
            <a:spAutoFit/>
          </a:bodyPr>
          <a:lstStyle/>
          <a:p>
            <a:pPr algn="l"/>
            <a:r>
              <a:rPr sz="1000" b="1" i="0">
                <a:solidFill>
                  <a:srgbClr val="1F77B4"/>
                </a:solidFill>
                <a:latin typeface="Calibri"/>
              </a:rPr>
              <a:t>Локальный эффект цикла 5: R_worst 0.560 → 0.667 (+10.7 п.п.), combined 0.844 → 0.908 (+6.4 п.п.)</a:t>
            </a:r>
          </a:p>
        </p:txBody>
      </p:sp>
      <p:sp>
        <p:nvSpPr>
          <p:cNvPr id="16" name="Rectangle 15"/>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8" name="TextBox 17"/>
          <p:cNvSpPr txBox="1"/>
          <p:nvPr/>
        </p:nvSpPr>
        <p:spPr>
          <a:xfrm>
            <a:off x="11247120" y="6601968"/>
            <a:ext cx="914400" cy="190821"/>
          </a:xfrm>
          <a:prstGeom prst="rect">
            <a:avLst/>
          </a:prstGeom>
          <a:noFill/>
        </p:spPr>
        <p:txBody>
          <a:bodyPr wrap="square" lIns="45720" tIns="18288" rIns="45720" bIns="18288">
            <a:spAutoFit/>
          </a:bodyPr>
          <a:lstStyle/>
          <a:p>
            <a:pPr algn="r"/>
            <a:r>
              <a:rPr lang="en-US" sz="1000" b="0" i="0" dirty="0">
                <a:solidFill>
                  <a:srgbClr val="FFFFFF"/>
                </a:solidFill>
                <a:latin typeface="Calibri"/>
              </a:rPr>
              <a:t>10</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430000" cy="502920"/>
          </a:xfrm>
          <a:prstGeom prst="rect">
            <a:avLst/>
          </a:prstGeom>
          <a:noFill/>
        </p:spPr>
        <p:txBody>
          <a:bodyPr wrap="square" lIns="45720" tIns="18288" rIns="45720" bIns="18288">
            <a:spAutoFit/>
          </a:bodyPr>
          <a:lstStyle/>
          <a:p>
            <a:pPr algn="l"/>
            <a:r>
              <a:rPr sz="2300" b="1" i="0">
                <a:solidFill>
                  <a:srgbClr val="102040"/>
                </a:solidFill>
                <a:latin typeface="Calibri"/>
              </a:rPr>
              <a:t>Демо-отчёт 3 — сгенерированная пара 3★ / 4★</a:t>
            </a:r>
          </a:p>
        </p:txBody>
      </p:sp>
      <p:sp>
        <p:nvSpPr>
          <p:cNvPr id="3" name="Rectangle 2"/>
          <p:cNvSpPr/>
          <p:nvPr/>
        </p:nvSpPr>
        <p:spPr>
          <a:xfrm>
            <a:off x="457200" y="804672"/>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60120"/>
            <a:ext cx="11247120" cy="320040"/>
          </a:xfrm>
          <a:prstGeom prst="rect">
            <a:avLst/>
          </a:prstGeom>
          <a:noFill/>
        </p:spPr>
        <p:txBody>
          <a:bodyPr wrap="square" lIns="45720" tIns="18288" rIns="45720" bIns="18288">
            <a:spAutoFit/>
          </a:bodyPr>
          <a:lstStyle/>
          <a:p>
            <a:pPr algn="l"/>
            <a:r>
              <a:rPr sz="1000" b="0" i="1">
                <a:solidFill>
                  <a:srgbClr val="555555"/>
                </a:solidFill>
                <a:latin typeface="Calibri"/>
              </a:rPr>
              <a:t>Источник: results_all_categories_evolve_subsample/al_iter_5/synthetic_fewshot_examples.txt</a:t>
            </a:r>
          </a:p>
        </p:txBody>
      </p:sp>
      <p:sp>
        <p:nvSpPr>
          <p:cNvPr id="5" name="Rectangle 4"/>
          <p:cNvSpPr/>
          <p:nvPr/>
        </p:nvSpPr>
        <p:spPr>
          <a:xfrm>
            <a:off x="548640" y="1417320"/>
            <a:ext cx="5486400" cy="4114800"/>
          </a:xfrm>
          <a:prstGeom prst="rect">
            <a:avLst/>
          </a:prstGeom>
          <a:solidFill>
            <a:srgbClr val="FEF7E0"/>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72768"/>
            <a:ext cx="5120640" cy="320040"/>
          </a:xfrm>
          <a:prstGeom prst="rect">
            <a:avLst/>
          </a:prstGeom>
          <a:noFill/>
        </p:spPr>
        <p:txBody>
          <a:bodyPr wrap="square" lIns="45720" tIns="18288" rIns="45720" bIns="18288">
            <a:spAutoFit/>
          </a:bodyPr>
          <a:lstStyle/>
          <a:p>
            <a:pPr algn="l"/>
            <a:r>
              <a:rPr sz="1500" b="1" i="0">
                <a:solidFill>
                  <a:srgbClr val="102040"/>
                </a:solidFill>
                <a:latin typeface="Calibri"/>
              </a:rPr>
              <a:t>Example 4 — Rating: 4</a:t>
            </a:r>
          </a:p>
        </p:txBody>
      </p:sp>
      <p:sp>
        <p:nvSpPr>
          <p:cNvPr id="7" name="TextBox 6"/>
          <p:cNvSpPr txBox="1"/>
          <p:nvPr/>
        </p:nvSpPr>
        <p:spPr>
          <a:xfrm>
            <a:off x="731520" y="1993392"/>
            <a:ext cx="5074920" cy="2651760"/>
          </a:xfrm>
          <a:prstGeom prst="rect">
            <a:avLst/>
          </a:prstGeom>
          <a:noFill/>
        </p:spPr>
        <p:txBody>
          <a:bodyPr wrap="square" lIns="45720" tIns="18288" rIns="45720" bIns="18288">
            <a:spAutoFit/>
          </a:bodyPr>
          <a:lstStyle/>
          <a:p>
            <a:pPr algn="l"/>
            <a:r>
              <a:rPr sz="1300" b="0" i="0">
                <a:solidFill>
                  <a:srgbClr val="202020"/>
                </a:solidFill>
                <a:latin typeface="Calibri"/>
              </a:rPr>
              <a:t>Review: This is a pretty good knife set for the price. The main knives feel solid, look nice, and are sharp enough for my daily cooking. The included steak knives feel a little flimsy in comparison, but that's a minor issue for me since I don't use them often. Overall, I'm pleased with the purchase.</a:t>
            </a:r>
          </a:p>
        </p:txBody>
      </p:sp>
      <p:sp>
        <p:nvSpPr>
          <p:cNvPr id="8" name="Rectangle 7"/>
          <p:cNvSpPr/>
          <p:nvPr/>
        </p:nvSpPr>
        <p:spPr>
          <a:xfrm>
            <a:off x="731520" y="4800600"/>
            <a:ext cx="5074920" cy="502920"/>
          </a:xfrm>
          <a:prstGeom prst="rect">
            <a:avLst/>
          </a:prstGeom>
          <a:solidFill>
            <a:srgbClr val="FFFFFF"/>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4901184"/>
            <a:ext cx="4800600" cy="274320"/>
          </a:xfrm>
          <a:prstGeom prst="rect">
            <a:avLst/>
          </a:prstGeom>
          <a:noFill/>
        </p:spPr>
        <p:txBody>
          <a:bodyPr wrap="square" lIns="45720" tIns="18288" rIns="45720" bIns="18288">
            <a:spAutoFit/>
          </a:bodyPr>
          <a:lstStyle/>
          <a:p>
            <a:pPr algn="l"/>
            <a:r>
              <a:rPr sz="1100" b="1" i="0">
                <a:solidFill>
                  <a:srgbClr val="102040"/>
                </a:solidFill>
                <a:latin typeface="Calibri"/>
              </a:rPr>
              <a:t>Смысл: minor issue не ломает overall positive → 4★.</a:t>
            </a:r>
          </a:p>
        </p:txBody>
      </p:sp>
      <p:sp>
        <p:nvSpPr>
          <p:cNvPr id="10" name="Rectangle 9"/>
          <p:cNvSpPr/>
          <p:nvPr/>
        </p:nvSpPr>
        <p:spPr>
          <a:xfrm>
            <a:off x="6263640" y="1417320"/>
            <a:ext cx="5486400" cy="4114800"/>
          </a:xfrm>
          <a:prstGeom prst="rect">
            <a:avLst/>
          </a:prstGeom>
          <a:solidFill>
            <a:srgbClr val="FCE8E6"/>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572768"/>
            <a:ext cx="5120640" cy="320040"/>
          </a:xfrm>
          <a:prstGeom prst="rect">
            <a:avLst/>
          </a:prstGeom>
          <a:noFill/>
        </p:spPr>
        <p:txBody>
          <a:bodyPr wrap="square" lIns="45720" tIns="18288" rIns="45720" bIns="18288">
            <a:spAutoFit/>
          </a:bodyPr>
          <a:lstStyle/>
          <a:p>
            <a:pPr algn="l"/>
            <a:r>
              <a:rPr sz="1500" b="1" i="0">
                <a:solidFill>
                  <a:srgbClr val="102040"/>
                </a:solidFill>
                <a:latin typeface="Calibri"/>
              </a:rPr>
              <a:t>Example 3 — Rating: 3</a:t>
            </a:r>
          </a:p>
        </p:txBody>
      </p:sp>
      <p:sp>
        <p:nvSpPr>
          <p:cNvPr id="12" name="TextBox 11"/>
          <p:cNvSpPr txBox="1"/>
          <p:nvPr/>
        </p:nvSpPr>
        <p:spPr>
          <a:xfrm>
            <a:off x="6446520" y="1993392"/>
            <a:ext cx="5074920" cy="2651760"/>
          </a:xfrm>
          <a:prstGeom prst="rect">
            <a:avLst/>
          </a:prstGeom>
          <a:noFill/>
        </p:spPr>
        <p:txBody>
          <a:bodyPr wrap="square" lIns="45720" tIns="18288" rIns="45720" bIns="18288">
            <a:spAutoFit/>
          </a:bodyPr>
          <a:lstStyle/>
          <a:p>
            <a:pPr algn="l"/>
            <a:r>
              <a:rPr sz="1300" b="0" i="0">
                <a:solidFill>
                  <a:srgbClr val="202020"/>
                </a:solidFill>
                <a:latin typeface="Calibri"/>
              </a:rPr>
              <a:t>Review: I have mixed feelings about this knife set. The block is nice and the chef's knife and paring knife are fantastic. However, the bread knife is completely useless and just tears bread. The scissors also broke the first time I tried to cut open a plastic food package. Since some pieces are great and others are junk, the whole set is just okay.</a:t>
            </a:r>
          </a:p>
        </p:txBody>
      </p:sp>
      <p:sp>
        <p:nvSpPr>
          <p:cNvPr id="13" name="Rectangle 12"/>
          <p:cNvSpPr/>
          <p:nvPr/>
        </p:nvSpPr>
        <p:spPr>
          <a:xfrm>
            <a:off x="6446520" y="4800600"/>
            <a:ext cx="5074920" cy="502920"/>
          </a:xfrm>
          <a:prstGeom prst="rect">
            <a:avLst/>
          </a:prstGeom>
          <a:solidFill>
            <a:srgbClr val="FFFFFF"/>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4901184"/>
            <a:ext cx="4800600" cy="274320"/>
          </a:xfrm>
          <a:prstGeom prst="rect">
            <a:avLst/>
          </a:prstGeom>
          <a:noFill/>
        </p:spPr>
        <p:txBody>
          <a:bodyPr wrap="square" lIns="45720" tIns="18288" rIns="45720" bIns="18288">
            <a:spAutoFit/>
          </a:bodyPr>
          <a:lstStyle/>
          <a:p>
            <a:pPr algn="l"/>
            <a:r>
              <a:rPr sz="1100" b="1" i="0">
                <a:solidFill>
                  <a:srgbClr val="102040"/>
                </a:solidFill>
                <a:latin typeface="Calibri"/>
              </a:rPr>
              <a:t>Смысл: смешанный набор, часть компонентов junk → 3★.</a:t>
            </a:r>
          </a:p>
        </p:txBody>
      </p:sp>
      <p:sp>
        <p:nvSpPr>
          <p:cNvPr id="15" name="TextBox 14"/>
          <p:cNvSpPr txBox="1"/>
          <p:nvPr/>
        </p:nvSpPr>
        <p:spPr>
          <a:xfrm>
            <a:off x="594360" y="5715000"/>
            <a:ext cx="10972800" cy="256032"/>
          </a:xfrm>
          <a:prstGeom prst="rect">
            <a:avLst/>
          </a:prstGeom>
          <a:noFill/>
        </p:spPr>
        <p:txBody>
          <a:bodyPr wrap="square" lIns="45720" tIns="18288" rIns="45720" bIns="18288">
            <a:spAutoFit/>
          </a:bodyPr>
          <a:lstStyle/>
          <a:p>
            <a:pPr algn="l"/>
            <a:r>
              <a:rPr sz="1000" b="1" i="0">
                <a:solidFill>
                  <a:srgbClr val="1F77B4"/>
                </a:solidFill>
                <a:latin typeface="Calibri"/>
              </a:rPr>
              <a:t>После цикла 5: Acc_Hard 0.354 → 0.397 (+4.2 п.п.) — рост именно на hard-примерах.</a:t>
            </a:r>
          </a:p>
        </p:txBody>
      </p:sp>
      <p:sp>
        <p:nvSpPr>
          <p:cNvPr id="16" name="Rectangle 15"/>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8" name="TextBox 17"/>
          <p:cNvSpPr txBox="1"/>
          <p:nvPr/>
        </p:nvSpPr>
        <p:spPr>
          <a:xfrm>
            <a:off x="11247120" y="6601968"/>
            <a:ext cx="914400" cy="190821"/>
          </a:xfrm>
          <a:prstGeom prst="rect">
            <a:avLst/>
          </a:prstGeom>
          <a:noFill/>
        </p:spPr>
        <p:txBody>
          <a:bodyPr wrap="square" lIns="45720" tIns="18288" rIns="45720" bIns="18288">
            <a:spAutoFit/>
          </a:bodyPr>
          <a:lstStyle/>
          <a:p>
            <a:pPr algn="r"/>
            <a:r>
              <a:rPr lang="en-US" sz="1000" b="0" i="0" dirty="0">
                <a:solidFill>
                  <a:srgbClr val="FFFFFF"/>
                </a:solidFill>
                <a:latin typeface="Calibri"/>
              </a:rPr>
              <a:t>11</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430000" cy="502920"/>
          </a:xfrm>
          <a:prstGeom prst="rect">
            <a:avLst/>
          </a:prstGeom>
          <a:noFill/>
        </p:spPr>
        <p:txBody>
          <a:bodyPr wrap="square" lIns="45720" tIns="18288" rIns="45720" bIns="18288">
            <a:spAutoFit/>
          </a:bodyPr>
          <a:lstStyle/>
          <a:p>
            <a:pPr algn="l"/>
            <a:r>
              <a:rPr sz="2300" b="1" i="0">
                <a:solidFill>
                  <a:srgbClr val="102040"/>
                </a:solidFill>
                <a:latin typeface="Calibri"/>
              </a:rPr>
              <a:t>Демо-отчёт 4 — сгенерированная пара 2★ / 1★</a:t>
            </a:r>
          </a:p>
        </p:txBody>
      </p:sp>
      <p:sp>
        <p:nvSpPr>
          <p:cNvPr id="3" name="Rectangle 2"/>
          <p:cNvSpPr/>
          <p:nvPr/>
        </p:nvSpPr>
        <p:spPr>
          <a:xfrm>
            <a:off x="457200" y="804672"/>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60120"/>
            <a:ext cx="11247120" cy="320040"/>
          </a:xfrm>
          <a:prstGeom prst="rect">
            <a:avLst/>
          </a:prstGeom>
          <a:noFill/>
        </p:spPr>
        <p:txBody>
          <a:bodyPr wrap="square" lIns="45720" tIns="18288" rIns="45720" bIns="18288">
            <a:spAutoFit/>
          </a:bodyPr>
          <a:lstStyle/>
          <a:p>
            <a:pPr algn="l"/>
            <a:r>
              <a:rPr sz="1000" b="0" i="1">
                <a:solidFill>
                  <a:srgbClr val="555555"/>
                </a:solidFill>
                <a:latin typeface="Calibri"/>
              </a:rPr>
              <a:t>Источник: results_all_categories_evolve_subsample/al_iter_5/synthetic_fewshot_examples.txt</a:t>
            </a:r>
          </a:p>
        </p:txBody>
      </p:sp>
      <p:sp>
        <p:nvSpPr>
          <p:cNvPr id="5" name="Rectangle 4"/>
          <p:cNvSpPr/>
          <p:nvPr/>
        </p:nvSpPr>
        <p:spPr>
          <a:xfrm>
            <a:off x="548640" y="1417320"/>
            <a:ext cx="5486400" cy="4114800"/>
          </a:xfrm>
          <a:prstGeom prst="rect">
            <a:avLst/>
          </a:prstGeom>
          <a:solidFill>
            <a:srgbClr val="FEF7E0"/>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72768"/>
            <a:ext cx="5120640" cy="320040"/>
          </a:xfrm>
          <a:prstGeom prst="rect">
            <a:avLst/>
          </a:prstGeom>
          <a:noFill/>
        </p:spPr>
        <p:txBody>
          <a:bodyPr wrap="square" lIns="45720" tIns="18288" rIns="45720" bIns="18288">
            <a:spAutoFit/>
          </a:bodyPr>
          <a:lstStyle/>
          <a:p>
            <a:pPr algn="l"/>
            <a:r>
              <a:rPr sz="1500" b="1" i="0">
                <a:solidFill>
                  <a:srgbClr val="102040"/>
                </a:solidFill>
                <a:latin typeface="Calibri"/>
              </a:rPr>
              <a:t>Rating: 2</a:t>
            </a:r>
          </a:p>
        </p:txBody>
      </p:sp>
      <p:sp>
        <p:nvSpPr>
          <p:cNvPr id="7" name="TextBox 6"/>
          <p:cNvSpPr txBox="1"/>
          <p:nvPr/>
        </p:nvSpPr>
        <p:spPr>
          <a:xfrm>
            <a:off x="731520" y="1993392"/>
            <a:ext cx="5074920" cy="2651760"/>
          </a:xfrm>
          <a:prstGeom prst="rect">
            <a:avLst/>
          </a:prstGeom>
          <a:noFill/>
        </p:spPr>
        <p:txBody>
          <a:bodyPr wrap="square" lIns="45720" tIns="18288" rIns="45720" bIns="18288">
            <a:spAutoFit/>
          </a:bodyPr>
          <a:lstStyle/>
          <a:p>
            <a:pPr algn="l"/>
            <a:r>
              <a:rPr sz="1300" b="0" i="0">
                <a:solidFill>
                  <a:srgbClr val="202020"/>
                </a:solidFill>
                <a:latin typeface="Calibri"/>
              </a:rPr>
              <a:t>Review: I wanted to like this electric kettle because the design is very sleek. Unfortunately, it's a disappointment. It takes over 10 minutes to boil a full pot of water, which is significantly slower than my old, cheap kettle. The outside also gets extremely hot to the touch, which doesn't feel safe. It works, but it's frustrating.</a:t>
            </a:r>
          </a:p>
        </p:txBody>
      </p:sp>
      <p:sp>
        <p:nvSpPr>
          <p:cNvPr id="8" name="Rectangle 7"/>
          <p:cNvSpPr/>
          <p:nvPr/>
        </p:nvSpPr>
        <p:spPr>
          <a:xfrm>
            <a:off x="731520" y="4800600"/>
            <a:ext cx="5074920" cy="502920"/>
          </a:xfrm>
          <a:prstGeom prst="rect">
            <a:avLst/>
          </a:prstGeom>
          <a:solidFill>
            <a:srgbClr val="FFFFFF"/>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4901184"/>
            <a:ext cx="4800600" cy="274320"/>
          </a:xfrm>
          <a:prstGeom prst="rect">
            <a:avLst/>
          </a:prstGeom>
          <a:noFill/>
        </p:spPr>
        <p:txBody>
          <a:bodyPr wrap="square" lIns="45720" tIns="18288" rIns="45720" bIns="18288">
            <a:spAutoFit/>
          </a:bodyPr>
          <a:lstStyle/>
          <a:p>
            <a:pPr algn="l"/>
            <a:r>
              <a:rPr sz="1100" b="1" i="0">
                <a:solidFill>
                  <a:srgbClr val="102040"/>
                </a:solidFill>
                <a:latin typeface="Calibri"/>
              </a:rPr>
              <a:t>Смысл: плохой опыт, но товар всё ещё функционирует → 2★.</a:t>
            </a:r>
          </a:p>
        </p:txBody>
      </p:sp>
      <p:sp>
        <p:nvSpPr>
          <p:cNvPr id="10" name="Rectangle 9"/>
          <p:cNvSpPr/>
          <p:nvPr/>
        </p:nvSpPr>
        <p:spPr>
          <a:xfrm>
            <a:off x="6263640" y="1417320"/>
            <a:ext cx="5486400" cy="4114800"/>
          </a:xfrm>
          <a:prstGeom prst="rect">
            <a:avLst/>
          </a:prstGeom>
          <a:solidFill>
            <a:srgbClr val="FCE8E6"/>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572768"/>
            <a:ext cx="5120640" cy="320040"/>
          </a:xfrm>
          <a:prstGeom prst="rect">
            <a:avLst/>
          </a:prstGeom>
          <a:noFill/>
        </p:spPr>
        <p:txBody>
          <a:bodyPr wrap="square" lIns="45720" tIns="18288" rIns="45720" bIns="18288">
            <a:spAutoFit/>
          </a:bodyPr>
          <a:lstStyle/>
          <a:p>
            <a:pPr algn="l"/>
            <a:r>
              <a:rPr sz="1500" b="1" i="0">
                <a:solidFill>
                  <a:srgbClr val="102040"/>
                </a:solidFill>
                <a:latin typeface="Calibri"/>
              </a:rPr>
              <a:t>Rating: 1</a:t>
            </a:r>
          </a:p>
        </p:txBody>
      </p:sp>
      <p:sp>
        <p:nvSpPr>
          <p:cNvPr id="12" name="TextBox 11"/>
          <p:cNvSpPr txBox="1"/>
          <p:nvPr/>
        </p:nvSpPr>
        <p:spPr>
          <a:xfrm>
            <a:off x="6446520" y="1993392"/>
            <a:ext cx="5074920" cy="2651760"/>
          </a:xfrm>
          <a:prstGeom prst="rect">
            <a:avLst/>
          </a:prstGeom>
          <a:noFill/>
        </p:spPr>
        <p:txBody>
          <a:bodyPr wrap="square" lIns="45720" tIns="18288" rIns="45720" bIns="18288">
            <a:spAutoFit/>
          </a:bodyPr>
          <a:lstStyle/>
          <a:p>
            <a:pPr algn="l"/>
            <a:r>
              <a:rPr sz="1300" b="0" i="0">
                <a:solidFill>
                  <a:srgbClr val="202020"/>
                </a:solidFill>
                <a:latin typeface="Calibri"/>
              </a:rPr>
              <a:t>Review: DO NOT BUY. This is a dangerous product and a fire hazard. On its second use, the kettle started making a popping noise, smelled strongly of burning plastic, and then died completely, tripping my kitchen's circuit breaker. It's a complete waste of money and I'm just glad I was home to unplug it immediately.</a:t>
            </a:r>
          </a:p>
        </p:txBody>
      </p:sp>
      <p:sp>
        <p:nvSpPr>
          <p:cNvPr id="13" name="Rectangle 12"/>
          <p:cNvSpPr/>
          <p:nvPr/>
        </p:nvSpPr>
        <p:spPr>
          <a:xfrm>
            <a:off x="6446520" y="4800600"/>
            <a:ext cx="5074920" cy="502920"/>
          </a:xfrm>
          <a:prstGeom prst="rect">
            <a:avLst/>
          </a:prstGeom>
          <a:solidFill>
            <a:srgbClr val="FFFFFF"/>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4901184"/>
            <a:ext cx="4800600" cy="274320"/>
          </a:xfrm>
          <a:prstGeom prst="rect">
            <a:avLst/>
          </a:prstGeom>
          <a:noFill/>
        </p:spPr>
        <p:txBody>
          <a:bodyPr wrap="square" lIns="45720" tIns="18288" rIns="45720" bIns="18288">
            <a:spAutoFit/>
          </a:bodyPr>
          <a:lstStyle/>
          <a:p>
            <a:pPr algn="l"/>
            <a:r>
              <a:rPr sz="1100" b="1" i="0">
                <a:solidFill>
                  <a:srgbClr val="102040"/>
                </a:solidFill>
                <a:latin typeface="Calibri"/>
              </a:rPr>
              <a:t>Смысл: опасность/непригодность → уверенный 1★.</a:t>
            </a:r>
          </a:p>
        </p:txBody>
      </p:sp>
      <p:sp>
        <p:nvSpPr>
          <p:cNvPr id="15" name="TextBox 14"/>
          <p:cNvSpPr txBox="1"/>
          <p:nvPr/>
        </p:nvSpPr>
        <p:spPr>
          <a:xfrm>
            <a:off x="594360" y="5715000"/>
            <a:ext cx="10972800" cy="256032"/>
          </a:xfrm>
          <a:prstGeom prst="rect">
            <a:avLst/>
          </a:prstGeom>
          <a:noFill/>
        </p:spPr>
        <p:txBody>
          <a:bodyPr wrap="square" lIns="45720" tIns="18288" rIns="45720" bIns="18288">
            <a:spAutoFit/>
          </a:bodyPr>
          <a:lstStyle/>
          <a:p>
            <a:pPr algn="l"/>
            <a:r>
              <a:rPr sz="1000" b="1" i="0">
                <a:solidFill>
                  <a:srgbClr val="1F77B4"/>
                </a:solidFill>
                <a:latin typeface="Calibri"/>
              </a:rPr>
              <a:t>Важно: это cycle-level evidence — эффект цикла, где синтетика была подана мутатору.</a:t>
            </a:r>
          </a:p>
        </p:txBody>
      </p:sp>
      <p:sp>
        <p:nvSpPr>
          <p:cNvPr id="16" name="Rectangle 15"/>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18" name="TextBox 17"/>
          <p:cNvSpPr txBox="1"/>
          <p:nvPr/>
        </p:nvSpPr>
        <p:spPr>
          <a:xfrm>
            <a:off x="11247120" y="6601968"/>
            <a:ext cx="914400" cy="190821"/>
          </a:xfrm>
          <a:prstGeom prst="rect">
            <a:avLst/>
          </a:prstGeom>
          <a:noFill/>
        </p:spPr>
        <p:txBody>
          <a:bodyPr wrap="square" lIns="45720" tIns="18288" rIns="45720" bIns="18288">
            <a:spAutoFit/>
          </a:bodyPr>
          <a:lstStyle/>
          <a:p>
            <a:pPr algn="r"/>
            <a:r>
              <a:rPr lang="en-US" sz="1000" b="0" i="0" dirty="0">
                <a:solidFill>
                  <a:srgbClr val="FFFFFF"/>
                </a:solidFill>
                <a:latin typeface="Calibri"/>
              </a:rPr>
              <a:t>12</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5303"/>
            <a:ext cx="11430000" cy="502920"/>
          </a:xfrm>
          <a:prstGeom prst="rect">
            <a:avLst/>
          </a:prstGeom>
          <a:noFill/>
        </p:spPr>
        <p:txBody>
          <a:bodyPr wrap="square" lIns="45720" tIns="18288" rIns="45720" bIns="18288">
            <a:spAutoFit/>
          </a:bodyPr>
          <a:lstStyle/>
          <a:p>
            <a:pPr algn="l"/>
            <a:r>
              <a:rPr sz="2300" b="1" i="0">
                <a:solidFill>
                  <a:srgbClr val="102040"/>
                </a:solidFill>
                <a:latin typeface="Calibri"/>
              </a:rPr>
              <a:t>Демо-отчёт 5 — какой прирост метрик это дало</a:t>
            </a:r>
          </a:p>
        </p:txBody>
      </p:sp>
      <p:sp>
        <p:nvSpPr>
          <p:cNvPr id="3" name="Rectangle 2"/>
          <p:cNvSpPr/>
          <p:nvPr/>
        </p:nvSpPr>
        <p:spPr>
          <a:xfrm>
            <a:off x="457200" y="804672"/>
            <a:ext cx="11430000" cy="3657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363898" y="1561789"/>
            <a:ext cx="2514600" cy="914400"/>
          </a:xfrm>
          <a:prstGeom prst="rect">
            <a:avLst/>
          </a:prstGeom>
          <a:solidFill>
            <a:srgbClr val="E6F4EA"/>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73626" y="1653229"/>
            <a:ext cx="2514600" cy="228600"/>
          </a:xfrm>
          <a:prstGeom prst="rect">
            <a:avLst/>
          </a:prstGeom>
          <a:noFill/>
        </p:spPr>
        <p:txBody>
          <a:bodyPr wrap="square" lIns="45720" tIns="18288" rIns="45720" bIns="18288">
            <a:spAutoFit/>
          </a:bodyPr>
          <a:lstStyle/>
          <a:p>
            <a:pPr algn="l"/>
            <a:r>
              <a:rPr sz="1100" b="1" i="0">
                <a:solidFill>
                  <a:srgbClr val="102040"/>
                </a:solidFill>
                <a:latin typeface="Calibri"/>
              </a:rPr>
              <a:t>R_worst</a:t>
            </a:r>
          </a:p>
        </p:txBody>
      </p:sp>
      <p:sp>
        <p:nvSpPr>
          <p:cNvPr id="7" name="TextBox 6"/>
          <p:cNvSpPr txBox="1"/>
          <p:nvPr/>
        </p:nvSpPr>
        <p:spPr>
          <a:xfrm>
            <a:off x="1473626" y="1909260"/>
            <a:ext cx="2514600" cy="292608"/>
          </a:xfrm>
          <a:prstGeom prst="rect">
            <a:avLst/>
          </a:prstGeom>
          <a:noFill/>
        </p:spPr>
        <p:txBody>
          <a:bodyPr wrap="square" lIns="45720" tIns="18288" rIns="45720" bIns="18288">
            <a:spAutoFit/>
          </a:bodyPr>
          <a:lstStyle/>
          <a:p>
            <a:pPr algn="l"/>
            <a:r>
              <a:rPr sz="1700" b="1" i="0">
                <a:solidFill>
                  <a:srgbClr val="1F77B4"/>
                </a:solidFill>
                <a:latin typeface="Calibri"/>
              </a:rPr>
              <a:t>0.533 → 0.667</a:t>
            </a:r>
          </a:p>
        </p:txBody>
      </p:sp>
      <p:sp>
        <p:nvSpPr>
          <p:cNvPr id="8" name="TextBox 7"/>
          <p:cNvSpPr txBox="1"/>
          <p:nvPr/>
        </p:nvSpPr>
        <p:spPr>
          <a:xfrm>
            <a:off x="1473626" y="2220157"/>
            <a:ext cx="2514600" cy="182880"/>
          </a:xfrm>
          <a:prstGeom prst="rect">
            <a:avLst/>
          </a:prstGeom>
          <a:noFill/>
        </p:spPr>
        <p:txBody>
          <a:bodyPr wrap="square" lIns="45720" tIns="18288" rIns="45720" bIns="18288">
            <a:spAutoFit/>
          </a:bodyPr>
          <a:lstStyle/>
          <a:p>
            <a:pPr algn="l"/>
            <a:r>
              <a:rPr sz="900" b="0" i="0">
                <a:solidFill>
                  <a:srgbClr val="555555"/>
                </a:solidFill>
                <a:latin typeface="Calibri"/>
              </a:rPr>
              <a:t>+13.4 п.п. на худших пользователях</a:t>
            </a:r>
          </a:p>
        </p:txBody>
      </p:sp>
      <p:sp>
        <p:nvSpPr>
          <p:cNvPr id="9" name="Rectangle 8"/>
          <p:cNvSpPr/>
          <p:nvPr/>
        </p:nvSpPr>
        <p:spPr>
          <a:xfrm>
            <a:off x="4434840" y="1557450"/>
            <a:ext cx="2743200" cy="914400"/>
          </a:xfrm>
          <a:prstGeom prst="rect">
            <a:avLst/>
          </a:prstGeom>
          <a:solidFill>
            <a:srgbClr val="E8F1FB"/>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3047" y="1648890"/>
            <a:ext cx="2514600" cy="228600"/>
          </a:xfrm>
          <a:prstGeom prst="rect">
            <a:avLst/>
          </a:prstGeom>
          <a:noFill/>
        </p:spPr>
        <p:txBody>
          <a:bodyPr wrap="square" lIns="45720" tIns="18288" rIns="45720" bIns="18288">
            <a:spAutoFit/>
          </a:bodyPr>
          <a:lstStyle/>
          <a:p>
            <a:pPr algn="l"/>
            <a:r>
              <a:rPr sz="1100" b="1" i="0" dirty="0">
                <a:solidFill>
                  <a:srgbClr val="102040"/>
                </a:solidFill>
                <a:latin typeface="Calibri"/>
              </a:rPr>
              <a:t>Combined score</a:t>
            </a:r>
          </a:p>
        </p:txBody>
      </p:sp>
      <p:sp>
        <p:nvSpPr>
          <p:cNvPr id="11" name="TextBox 10"/>
          <p:cNvSpPr txBox="1"/>
          <p:nvPr/>
        </p:nvSpPr>
        <p:spPr>
          <a:xfrm>
            <a:off x="4544568" y="1909494"/>
            <a:ext cx="2514600" cy="292608"/>
          </a:xfrm>
          <a:prstGeom prst="rect">
            <a:avLst/>
          </a:prstGeom>
          <a:noFill/>
        </p:spPr>
        <p:txBody>
          <a:bodyPr wrap="square" lIns="45720" tIns="18288" rIns="45720" bIns="18288">
            <a:spAutoFit/>
          </a:bodyPr>
          <a:lstStyle/>
          <a:p>
            <a:pPr algn="l"/>
            <a:r>
              <a:rPr sz="1700" b="1" i="0" dirty="0">
                <a:solidFill>
                  <a:srgbClr val="1F77B4"/>
                </a:solidFill>
                <a:latin typeface="Calibri"/>
              </a:rPr>
              <a:t>0.844 → 0.894</a:t>
            </a:r>
          </a:p>
        </p:txBody>
      </p:sp>
      <p:sp>
        <p:nvSpPr>
          <p:cNvPr id="12" name="TextBox 11"/>
          <p:cNvSpPr txBox="1"/>
          <p:nvPr/>
        </p:nvSpPr>
        <p:spPr>
          <a:xfrm>
            <a:off x="4544568" y="2220390"/>
            <a:ext cx="2514600" cy="182880"/>
          </a:xfrm>
          <a:prstGeom prst="rect">
            <a:avLst/>
          </a:prstGeom>
          <a:noFill/>
        </p:spPr>
        <p:txBody>
          <a:bodyPr wrap="square" lIns="45720" tIns="18288" rIns="45720" bIns="18288">
            <a:spAutoFit/>
          </a:bodyPr>
          <a:lstStyle/>
          <a:p>
            <a:pPr algn="l"/>
            <a:r>
              <a:rPr sz="900" b="0" i="0" dirty="0">
                <a:solidFill>
                  <a:srgbClr val="555555"/>
                </a:solidFill>
                <a:latin typeface="Calibri"/>
              </a:rPr>
              <a:t>+5.0 </a:t>
            </a:r>
            <a:r>
              <a:rPr sz="900" b="0" i="0" dirty="0" err="1">
                <a:solidFill>
                  <a:srgbClr val="555555"/>
                </a:solidFill>
                <a:latin typeface="Calibri"/>
              </a:rPr>
              <a:t>п.п</a:t>
            </a:r>
            <a:r>
              <a:rPr sz="900" b="0" i="0" dirty="0">
                <a:solidFill>
                  <a:srgbClr val="555555"/>
                </a:solidFill>
                <a:latin typeface="Calibri"/>
              </a:rPr>
              <a:t>. </a:t>
            </a:r>
            <a:r>
              <a:rPr sz="900" b="0" i="0" dirty="0" err="1">
                <a:solidFill>
                  <a:srgbClr val="555555"/>
                </a:solidFill>
                <a:latin typeface="Calibri"/>
              </a:rPr>
              <a:t>итоговой</a:t>
            </a:r>
            <a:r>
              <a:rPr sz="900" b="0" i="0" dirty="0">
                <a:solidFill>
                  <a:srgbClr val="555555"/>
                </a:solidFill>
                <a:latin typeface="Calibri"/>
              </a:rPr>
              <a:t> </a:t>
            </a:r>
            <a:r>
              <a:rPr sz="900" b="0" i="0" dirty="0" err="1">
                <a:solidFill>
                  <a:srgbClr val="555555"/>
                </a:solidFill>
                <a:latin typeface="Calibri"/>
              </a:rPr>
              <a:t>метрики</a:t>
            </a:r>
            <a:endParaRPr sz="900" b="0" i="0" dirty="0">
              <a:solidFill>
                <a:srgbClr val="555555"/>
              </a:solidFill>
              <a:latin typeface="Calibri"/>
            </a:endParaRPr>
          </a:p>
        </p:txBody>
      </p:sp>
      <p:sp>
        <p:nvSpPr>
          <p:cNvPr id="13" name="Rectangle 12"/>
          <p:cNvSpPr/>
          <p:nvPr/>
        </p:nvSpPr>
        <p:spPr>
          <a:xfrm>
            <a:off x="7787689" y="1561789"/>
            <a:ext cx="2743200" cy="914400"/>
          </a:xfrm>
          <a:prstGeom prst="rect">
            <a:avLst/>
          </a:prstGeom>
          <a:solidFill>
            <a:srgbClr val="FEF7E0"/>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97417" y="1653229"/>
            <a:ext cx="2514600" cy="228600"/>
          </a:xfrm>
          <a:prstGeom prst="rect">
            <a:avLst/>
          </a:prstGeom>
          <a:noFill/>
        </p:spPr>
        <p:txBody>
          <a:bodyPr wrap="square" lIns="45720" tIns="18288" rIns="45720" bIns="18288">
            <a:spAutoFit/>
          </a:bodyPr>
          <a:lstStyle/>
          <a:p>
            <a:pPr algn="l"/>
            <a:r>
              <a:rPr sz="1100" b="1" i="0">
                <a:solidFill>
                  <a:srgbClr val="102040"/>
                </a:solidFill>
                <a:latin typeface="Calibri"/>
              </a:rPr>
              <a:t>Acc_Hard</a:t>
            </a:r>
          </a:p>
        </p:txBody>
      </p:sp>
      <p:sp>
        <p:nvSpPr>
          <p:cNvPr id="15" name="TextBox 14"/>
          <p:cNvSpPr txBox="1"/>
          <p:nvPr/>
        </p:nvSpPr>
        <p:spPr>
          <a:xfrm>
            <a:off x="7897417" y="1909260"/>
            <a:ext cx="2514600" cy="292608"/>
          </a:xfrm>
          <a:prstGeom prst="rect">
            <a:avLst/>
          </a:prstGeom>
          <a:noFill/>
        </p:spPr>
        <p:txBody>
          <a:bodyPr wrap="square" lIns="45720" tIns="18288" rIns="45720" bIns="18288">
            <a:spAutoFit/>
          </a:bodyPr>
          <a:lstStyle/>
          <a:p>
            <a:pPr algn="l"/>
            <a:r>
              <a:rPr sz="1700" b="1" i="0">
                <a:solidFill>
                  <a:srgbClr val="1F77B4"/>
                </a:solidFill>
                <a:latin typeface="Calibri"/>
              </a:rPr>
              <a:t>0.283 → 0.353</a:t>
            </a:r>
          </a:p>
        </p:txBody>
      </p:sp>
      <p:sp>
        <p:nvSpPr>
          <p:cNvPr id="16" name="TextBox 15"/>
          <p:cNvSpPr txBox="1"/>
          <p:nvPr/>
        </p:nvSpPr>
        <p:spPr>
          <a:xfrm>
            <a:off x="7897417" y="2220157"/>
            <a:ext cx="2514600" cy="182880"/>
          </a:xfrm>
          <a:prstGeom prst="rect">
            <a:avLst/>
          </a:prstGeom>
          <a:noFill/>
        </p:spPr>
        <p:txBody>
          <a:bodyPr wrap="square" lIns="45720" tIns="18288" rIns="45720" bIns="18288">
            <a:spAutoFit/>
          </a:bodyPr>
          <a:lstStyle/>
          <a:p>
            <a:pPr algn="l"/>
            <a:r>
              <a:rPr sz="900" b="0" i="0">
                <a:solidFill>
                  <a:srgbClr val="555555"/>
                </a:solidFill>
                <a:latin typeface="Calibri"/>
              </a:rPr>
              <a:t>+7.0 п.п. на hard-примерах</a:t>
            </a:r>
          </a:p>
        </p:txBody>
      </p:sp>
      <p:sp>
        <p:nvSpPr>
          <p:cNvPr id="21" name="Rectangle 20"/>
          <p:cNvSpPr/>
          <p:nvPr/>
        </p:nvSpPr>
        <p:spPr>
          <a:xfrm>
            <a:off x="685800" y="2743200"/>
            <a:ext cx="3383280" cy="2514600"/>
          </a:xfrm>
          <a:prstGeom prst="rect">
            <a:avLst/>
          </a:prstGeom>
          <a:solidFill>
            <a:srgbClr val="E6F4EA"/>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2852928"/>
            <a:ext cx="3154680" cy="292608"/>
          </a:xfrm>
          <a:prstGeom prst="rect">
            <a:avLst/>
          </a:prstGeom>
          <a:noFill/>
        </p:spPr>
        <p:txBody>
          <a:bodyPr wrap="square" lIns="45720" tIns="18288" rIns="45720" bIns="18288">
            <a:spAutoFit/>
          </a:bodyPr>
          <a:lstStyle/>
          <a:p>
            <a:pPr algn="l"/>
            <a:r>
              <a:rPr sz="1300" b="1" i="0">
                <a:solidFill>
                  <a:srgbClr val="102040"/>
                </a:solidFill>
                <a:latin typeface="Calibri"/>
              </a:rPr>
              <a:t>Локальный эффект цикла 5</a:t>
            </a:r>
          </a:p>
        </p:txBody>
      </p:sp>
      <p:sp>
        <p:nvSpPr>
          <p:cNvPr id="23" name="TextBox 22"/>
          <p:cNvSpPr txBox="1"/>
          <p:nvPr/>
        </p:nvSpPr>
        <p:spPr>
          <a:xfrm>
            <a:off x="777240" y="3200400"/>
            <a:ext cx="3154680" cy="1783080"/>
          </a:xfrm>
          <a:prstGeom prst="rect">
            <a:avLst/>
          </a:prstGeom>
          <a:noFill/>
        </p:spPr>
        <p:txBody>
          <a:bodyPr wrap="square">
            <a:spAutoFit/>
          </a:bodyPr>
          <a:lstStyle/>
          <a:p>
            <a:pPr algn="l">
              <a:spcAft>
                <a:spcPts val="400"/>
              </a:spcAft>
            </a:pPr>
            <a:r>
              <a:rPr sz="1000">
                <a:solidFill>
                  <a:srgbClr val="202020"/>
                </a:solidFill>
                <a:latin typeface="Calibri"/>
              </a:rPr>
              <a:t>•  R_worst: 0.560 → 0.667 (+10.7 п.п.)</a:t>
            </a:r>
          </a:p>
          <a:p>
            <a:pPr algn="l">
              <a:spcAft>
                <a:spcPts val="400"/>
              </a:spcAft>
            </a:pPr>
            <a:r>
              <a:rPr sz="1000">
                <a:solidFill>
                  <a:srgbClr val="202020"/>
                </a:solidFill>
                <a:latin typeface="Calibri"/>
              </a:rPr>
              <a:t>•  combined: 0.844 → 0.908 (+6.4 п.п.)</a:t>
            </a:r>
          </a:p>
          <a:p>
            <a:pPr algn="l">
              <a:spcAft>
                <a:spcPts val="400"/>
              </a:spcAft>
            </a:pPr>
            <a:r>
              <a:rPr sz="1000">
                <a:solidFill>
                  <a:srgbClr val="202020"/>
                </a:solidFill>
                <a:latin typeface="Calibri"/>
              </a:rPr>
              <a:t>•  Acc_Hard: 0.354 → 0.397 (+4.2 п.п.)</a:t>
            </a:r>
          </a:p>
          <a:p>
            <a:pPr algn="l">
              <a:spcAft>
                <a:spcPts val="400"/>
              </a:spcAft>
            </a:pPr>
            <a:r>
              <a:rPr sz="1000">
                <a:solidFill>
                  <a:srgbClr val="202020"/>
                </a:solidFill>
                <a:latin typeface="Calibri"/>
              </a:rPr>
              <a:t>•  synthetic examples были поданы в этот AL-цикл.</a:t>
            </a:r>
          </a:p>
        </p:txBody>
      </p:sp>
      <p:sp>
        <p:nvSpPr>
          <p:cNvPr id="24" name="Rectangle 23"/>
          <p:cNvSpPr/>
          <p:nvPr/>
        </p:nvSpPr>
        <p:spPr>
          <a:xfrm>
            <a:off x="4343400" y="2743200"/>
            <a:ext cx="3383280" cy="251460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60" y="2852928"/>
            <a:ext cx="3200400" cy="236988"/>
          </a:xfrm>
          <a:prstGeom prst="rect">
            <a:avLst/>
          </a:prstGeom>
          <a:noFill/>
        </p:spPr>
        <p:txBody>
          <a:bodyPr wrap="square" lIns="45720" tIns="18288" rIns="45720" bIns="18288">
            <a:spAutoFit/>
          </a:bodyPr>
          <a:lstStyle/>
          <a:p>
            <a:pPr algn="l"/>
            <a:r>
              <a:rPr sz="1300" b="1" i="0" dirty="0" err="1">
                <a:solidFill>
                  <a:srgbClr val="102040"/>
                </a:solidFill>
                <a:latin typeface="Calibri"/>
              </a:rPr>
              <a:t>Почему</a:t>
            </a:r>
            <a:r>
              <a:rPr sz="1300" b="1" i="0" dirty="0">
                <a:solidFill>
                  <a:srgbClr val="102040"/>
                </a:solidFill>
                <a:latin typeface="Calibri"/>
              </a:rPr>
              <a:t> </a:t>
            </a:r>
            <a:r>
              <a:rPr sz="1300" b="1" i="0" dirty="0" err="1">
                <a:solidFill>
                  <a:srgbClr val="102040"/>
                </a:solidFill>
                <a:latin typeface="Calibri"/>
              </a:rPr>
              <a:t>это</a:t>
            </a:r>
            <a:r>
              <a:rPr lang="en-US" sz="1300" b="1" dirty="0">
                <a:solidFill>
                  <a:srgbClr val="102040"/>
                </a:solidFill>
                <a:latin typeface="Calibri"/>
              </a:rPr>
              <a:t> </a:t>
            </a:r>
            <a:r>
              <a:rPr lang="ru-RU" sz="1300" b="1" dirty="0">
                <a:solidFill>
                  <a:srgbClr val="102040"/>
                </a:solidFill>
                <a:latin typeface="Calibri"/>
              </a:rPr>
              <a:t>в том числе влияние синтетики</a:t>
            </a:r>
            <a:endParaRPr sz="1300" b="1" i="0" dirty="0">
              <a:solidFill>
                <a:srgbClr val="102040"/>
              </a:solidFill>
              <a:latin typeface="Calibri"/>
            </a:endParaRPr>
          </a:p>
        </p:txBody>
      </p:sp>
      <p:sp>
        <p:nvSpPr>
          <p:cNvPr id="26" name="TextBox 25"/>
          <p:cNvSpPr txBox="1"/>
          <p:nvPr/>
        </p:nvSpPr>
        <p:spPr>
          <a:xfrm>
            <a:off x="4434840" y="3200400"/>
            <a:ext cx="3154680" cy="1783080"/>
          </a:xfrm>
          <a:prstGeom prst="rect">
            <a:avLst/>
          </a:prstGeom>
          <a:noFill/>
        </p:spPr>
        <p:txBody>
          <a:bodyPr wrap="square">
            <a:spAutoFit/>
          </a:bodyPr>
          <a:lstStyle/>
          <a:p>
            <a:pPr algn="l">
              <a:spcAft>
                <a:spcPts val="400"/>
              </a:spcAft>
            </a:pPr>
            <a:r>
              <a:rPr sz="1000">
                <a:solidFill>
                  <a:srgbClr val="202020"/>
                </a:solidFill>
                <a:latin typeface="Calibri"/>
              </a:rPr>
              <a:t>•  Генератор получает ошибки текущей модели и реальные hard-примеры.</a:t>
            </a:r>
          </a:p>
          <a:p>
            <a:pPr algn="l">
              <a:spcAft>
                <a:spcPts val="400"/>
              </a:spcAft>
            </a:pPr>
            <a:r>
              <a:rPr sz="1000">
                <a:solidFill>
                  <a:srgbClr val="202020"/>
                </a:solidFill>
                <a:latin typeface="Calibri"/>
              </a:rPr>
              <a:t>•  Синтетические пары показывают именно границы между соседними оценками.</a:t>
            </a:r>
          </a:p>
          <a:p>
            <a:pPr algn="l">
              <a:spcAft>
                <a:spcPts val="400"/>
              </a:spcAft>
            </a:pPr>
            <a:r>
              <a:rPr sz="1000">
                <a:solidFill>
                  <a:srgbClr val="202020"/>
                </a:solidFill>
                <a:latin typeface="Calibri"/>
              </a:rPr>
              <a:t>•  В режиме inject_as_hint мутатор использует примеры как материал, а не как принудительную замену.</a:t>
            </a:r>
          </a:p>
        </p:txBody>
      </p:sp>
      <p:sp>
        <p:nvSpPr>
          <p:cNvPr id="27" name="Rectangle 26"/>
          <p:cNvSpPr/>
          <p:nvPr/>
        </p:nvSpPr>
        <p:spPr>
          <a:xfrm>
            <a:off x="8001000" y="2743200"/>
            <a:ext cx="3566160" cy="2514600"/>
          </a:xfrm>
          <a:prstGeom prst="rect">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38160" y="2852928"/>
            <a:ext cx="3337560" cy="292608"/>
          </a:xfrm>
          <a:prstGeom prst="rect">
            <a:avLst/>
          </a:prstGeom>
          <a:noFill/>
        </p:spPr>
        <p:txBody>
          <a:bodyPr wrap="square" lIns="45720" tIns="18288" rIns="45720" bIns="18288">
            <a:spAutoFit/>
          </a:bodyPr>
          <a:lstStyle/>
          <a:p>
            <a:pPr algn="l"/>
            <a:r>
              <a:rPr sz="1300" b="1" i="0">
                <a:solidFill>
                  <a:srgbClr val="102040"/>
                </a:solidFill>
                <a:latin typeface="Calibri"/>
              </a:rPr>
              <a:t>Честное ограничение</a:t>
            </a:r>
          </a:p>
        </p:txBody>
      </p:sp>
      <p:sp>
        <p:nvSpPr>
          <p:cNvPr id="29" name="TextBox 28"/>
          <p:cNvSpPr txBox="1"/>
          <p:nvPr/>
        </p:nvSpPr>
        <p:spPr>
          <a:xfrm>
            <a:off x="8092440" y="3200400"/>
            <a:ext cx="3337560" cy="1783080"/>
          </a:xfrm>
          <a:prstGeom prst="rect">
            <a:avLst/>
          </a:prstGeom>
          <a:noFill/>
        </p:spPr>
        <p:txBody>
          <a:bodyPr wrap="square">
            <a:spAutoFit/>
          </a:bodyPr>
          <a:lstStyle/>
          <a:p>
            <a:pPr algn="l">
              <a:spcAft>
                <a:spcPts val="400"/>
              </a:spcAft>
            </a:pPr>
            <a:r>
              <a:rPr sz="1000">
                <a:solidFill>
                  <a:srgbClr val="202020"/>
                </a:solidFill>
                <a:latin typeface="Calibri"/>
              </a:rPr>
              <a:t>•  All-categories сравнение не полностью контролирует размер train pool.</a:t>
            </a:r>
          </a:p>
          <a:p>
            <a:pPr algn="l">
              <a:spcAft>
                <a:spcPts val="400"/>
              </a:spcAft>
            </a:pPr>
            <a:r>
              <a:rPr sz="1000">
                <a:solidFill>
                  <a:srgbClr val="202020"/>
                </a:solidFill>
                <a:latin typeface="Calibri"/>
              </a:rPr>
              <a:t>•  Цикл 5 — не строгая причинность одного примера: одновременно идут mutation/consolidation/refresh.</a:t>
            </a:r>
          </a:p>
          <a:p>
            <a:pPr algn="l">
              <a:spcAft>
                <a:spcPts val="400"/>
              </a:spcAft>
            </a:pPr>
            <a:r>
              <a:rPr sz="1000">
                <a:solidFill>
                  <a:srgbClr val="202020"/>
                </a:solidFill>
                <a:latin typeface="Calibri"/>
              </a:rPr>
              <a:t>•  Но это честная cycle-level evidence.</a:t>
            </a:r>
          </a:p>
        </p:txBody>
      </p:sp>
      <p:sp>
        <p:nvSpPr>
          <p:cNvPr id="30" name="Rectangle 29"/>
          <p:cNvSpPr/>
          <p:nvPr/>
        </p:nvSpPr>
        <p:spPr>
          <a:xfrm>
            <a:off x="685800" y="5532120"/>
            <a:ext cx="10881360" cy="685800"/>
          </a:xfrm>
          <a:prstGeom prst="rect">
            <a:avLst/>
          </a:prstGeom>
          <a:solidFill>
            <a:srgbClr val="E6F4EA"/>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5641848"/>
            <a:ext cx="10515600" cy="411480"/>
          </a:xfrm>
          <a:prstGeom prst="rect">
            <a:avLst/>
          </a:prstGeom>
          <a:noFill/>
        </p:spPr>
        <p:txBody>
          <a:bodyPr wrap="square" lIns="45720" tIns="18288" rIns="45720" bIns="18288">
            <a:spAutoFit/>
          </a:bodyPr>
          <a:lstStyle/>
          <a:p>
            <a:pPr algn="l"/>
            <a:r>
              <a:rPr sz="1200" b="1" i="0">
                <a:solidFill>
                  <a:srgbClr val="102040"/>
                </a:solidFill>
                <a:latin typeface="Calibri"/>
              </a:rPr>
              <a:t>Вывод: прирост даёт не «длинный промпт», а явные граничные few-shot демонстрации, построенные из ошибок текущего промпта.</a:t>
            </a:r>
          </a:p>
        </p:txBody>
      </p:sp>
      <p:sp>
        <p:nvSpPr>
          <p:cNvPr id="32" name="Rectangle 31"/>
          <p:cNvSpPr/>
          <p:nvPr/>
        </p:nvSpPr>
        <p:spPr>
          <a:xfrm>
            <a:off x="0" y="6565392"/>
            <a:ext cx="12191695" cy="2926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6601968"/>
            <a:ext cx="9601200" cy="274320"/>
          </a:xfrm>
          <a:prstGeom prst="rect">
            <a:avLst/>
          </a:prstGeom>
          <a:noFill/>
        </p:spPr>
        <p:txBody>
          <a:bodyPr wrap="square" lIns="45720" tIns="18288" rIns="45720" bIns="18288">
            <a:spAutoFit/>
          </a:bodyPr>
          <a:lstStyle/>
          <a:p>
            <a:pPr algn="l"/>
            <a:r>
              <a:rPr sz="900" b="0" i="0">
                <a:solidFill>
                  <a:srgbClr val="FFFFFF"/>
                </a:solidFill>
                <a:latin typeface="Calibri"/>
              </a:rPr>
              <a:t>Продвинутые методы ML  •  Статья: Intent-based Prompt Calibration (Levi, Brosh, Friedmann), arXiv:2402.03099</a:t>
            </a:r>
          </a:p>
        </p:txBody>
      </p:sp>
      <p:sp>
        <p:nvSpPr>
          <p:cNvPr id="34" name="TextBox 33"/>
          <p:cNvSpPr txBox="1"/>
          <p:nvPr/>
        </p:nvSpPr>
        <p:spPr>
          <a:xfrm>
            <a:off x="11247120" y="6601968"/>
            <a:ext cx="914400" cy="190821"/>
          </a:xfrm>
          <a:prstGeom prst="rect">
            <a:avLst/>
          </a:prstGeom>
          <a:noFill/>
        </p:spPr>
        <p:txBody>
          <a:bodyPr wrap="square" lIns="45720" tIns="18288" rIns="45720" bIns="18288">
            <a:spAutoFit/>
          </a:bodyPr>
          <a:lstStyle/>
          <a:p>
            <a:pPr algn="r"/>
            <a:r>
              <a:rPr lang="en-US" sz="1000" b="0" i="0" dirty="0">
                <a:solidFill>
                  <a:srgbClr val="FFFFFF"/>
                </a:solidFill>
                <a:latin typeface="Calibri"/>
              </a:rPr>
              <a:t>13</a:t>
            </a:r>
            <a:r>
              <a:rPr sz="1000" b="0" i="0" dirty="0">
                <a:solidFill>
                  <a:srgbClr val="FFFFFF"/>
                </a:solidFill>
                <a:latin typeface="Calibri"/>
              </a:rPr>
              <a:t> / </a:t>
            </a:r>
            <a:r>
              <a:rPr lang="en-US" sz="1000" b="0" i="0" dirty="0">
                <a:solidFill>
                  <a:srgbClr val="FFFFFF"/>
                </a:solidFill>
                <a:latin typeface="Calibri"/>
              </a:rPr>
              <a:t>13</a:t>
            </a:r>
            <a:endParaRPr sz="1000" b="0" i="0" dirty="0">
              <a:solidFill>
                <a:srgbClr val="FFFFFF"/>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280</TotalTime>
  <Words>2312</Words>
  <Application>Microsoft Office PowerPoint</Application>
  <PresentationFormat>Широкоэкранный</PresentationFormat>
  <Paragraphs>171</Paragraphs>
  <Slides>13</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13</vt:i4>
      </vt:variant>
    </vt:vector>
  </HeadingPairs>
  <TitlesOfParts>
    <vt:vector size="16"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
  <cp:keywords/>
  <dc:description>generated using python-pptx</dc:description>
  <cp:lastModifiedBy>Andrey Marchenko</cp:lastModifiedBy>
  <cp:revision>22</cp:revision>
  <dcterms:created xsi:type="dcterms:W3CDTF">2013-01-27T09:14:16Z</dcterms:created>
  <dcterms:modified xsi:type="dcterms:W3CDTF">2026-05-18T16:23:02Z</dcterms:modified>
  <cp:category/>
</cp:coreProperties>
</file>
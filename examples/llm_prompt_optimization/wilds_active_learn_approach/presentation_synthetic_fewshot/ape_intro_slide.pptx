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2040"/>
                </a:solidFill>
                <a:latin typeface="Calibri"/>
              </a:rPr>
              <a:t>Моя работа: Active Prompt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1430000" cy="36576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932688"/>
            <a:ext cx="1124712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  <a:latin typeface="Calibri"/>
              </a:rPr>
              <a:t>Оптимизируем промпт не на случайных примерах, а на ошибках текущей системы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440680" cy="324612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B8C7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627632"/>
            <a:ext cx="493776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1F77B4"/>
                </a:solidFill>
                <a:latin typeface="Calibri"/>
              </a:rPr>
              <a:t>Постановка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57400"/>
            <a:ext cx="4892040" cy="2240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b="1" sz="1300">
                <a:solidFill>
                  <a:srgbClr val="202020"/>
                </a:solidFill>
                <a:latin typeface="Calibri"/>
              </a:rPr>
              <a:t>•  Данные:</a:t>
            </a:r>
            <a:r>
              <a:rPr sz="1300">
                <a:solidFill>
                  <a:srgbClr val="202020"/>
                </a:solidFill>
                <a:latin typeface="Calibri"/>
              </a:rPr>
              <a:t> Amazon WILDS, отзывы 1–5★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202020"/>
                </a:solidFill>
                <a:latin typeface="Calibri"/>
              </a:rPr>
              <a:t>•  OOD-сдвиг:</a:t>
            </a:r>
            <a:r>
              <a:rPr sz="1300">
                <a:solidFill>
                  <a:srgbClr val="202020"/>
                </a:solidFill>
                <a:latin typeface="Calibri"/>
              </a:rPr>
              <a:t> train / val / test разделены по пользователям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202020"/>
                </a:solidFill>
                <a:latin typeface="Calibri"/>
              </a:rPr>
              <a:t>•  Главная метрика:</a:t>
            </a:r>
            <a:r>
              <a:rPr sz="1300">
                <a:solidFill>
                  <a:srgbClr val="202020"/>
                </a:solidFill>
                <a:latin typeface="Calibri"/>
              </a:rPr>
              <a:t> R_worst — качество на худших 10% пользователей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202020"/>
                </a:solidFill>
                <a:latin typeface="Calibri"/>
              </a:rPr>
              <a:t>•  Трудность:</a:t>
            </a:r>
            <a:r>
              <a:rPr sz="1300">
                <a:solidFill>
                  <a:srgbClr val="202020"/>
                </a:solidFill>
                <a:latin typeface="Calibri"/>
              </a:rPr>
              <a:t> ошибки концентрируются на границах 2/3, 3/4, 4/5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17320"/>
            <a:ext cx="5440680" cy="324612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B8C7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1384" y="1627632"/>
            <a:ext cx="493776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1F77B4"/>
                </a:solidFill>
                <a:latin typeface="Calibri"/>
              </a:rPr>
              <a:t>Идея 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892040" cy="2240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b="1" sz="1300">
                <a:solidFill>
                  <a:srgbClr val="202020"/>
                </a:solidFill>
                <a:latin typeface="Calibri"/>
              </a:rPr>
              <a:t>•  Hard:</a:t>
            </a:r>
            <a:r>
              <a:rPr sz="1300">
                <a:solidFill>
                  <a:srgbClr val="202020"/>
                </a:solidFill>
                <a:latin typeface="Calibri"/>
              </a:rPr>
              <a:t> ошибочные и спорные примеры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202020"/>
                </a:solidFill>
                <a:latin typeface="Calibri"/>
              </a:rPr>
              <a:t>•  Anchor:</a:t>
            </a:r>
            <a:r>
              <a:rPr sz="1300">
                <a:solidFill>
                  <a:srgbClr val="202020"/>
                </a:solidFill>
                <a:latin typeface="Calibri"/>
              </a:rPr>
              <a:t> уверенно решённые примеры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202020"/>
                </a:solidFill>
                <a:latin typeface="Calibri"/>
              </a:rPr>
              <a:t>•  MAP-Elites:</a:t>
            </a:r>
            <a:r>
              <a:rPr sz="1300">
                <a:solidFill>
                  <a:srgbClr val="202020"/>
                </a:solidFill>
                <a:latin typeface="Calibri"/>
              </a:rPr>
              <a:t> эволюция промпта по hard/anchor fitness</a:t>
            </a:r>
          </a:p>
          <a:p>
            <a:pPr>
              <a:spcAft>
                <a:spcPts val="500"/>
              </a:spcAft>
            </a:pPr>
            <a:r>
              <a:rPr b="1" sz="1300">
                <a:solidFill>
                  <a:srgbClr val="202020"/>
                </a:solidFill>
                <a:latin typeface="Calibri"/>
              </a:rPr>
              <a:t>•  Цель:</a:t>
            </a:r>
            <a:r>
              <a:rPr sz="1300">
                <a:solidFill>
                  <a:srgbClr val="202020"/>
                </a:solidFill>
                <a:latin typeface="Calibri"/>
              </a:rPr>
              <a:t> улучшить сложные случаи без деградации стабильных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5230368"/>
            <a:ext cx="1325880" cy="676656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B8C7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5349240"/>
            <a:ext cx="1216152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102040"/>
                </a:solidFill>
                <a:latin typeface="Calibri"/>
              </a:rPr>
              <a:t>Unseen</a:t>
            </a:r>
          </a:p>
          <a:p>
            <a:pPr algn="ctr"/>
            <a:r>
              <a:rPr sz="1100" b="1" i="0">
                <a:solidFill>
                  <a:srgbClr val="102040"/>
                </a:solidFill>
                <a:latin typeface="Calibri"/>
              </a:rPr>
              <a:t>pool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5230368"/>
            <a:ext cx="1325880" cy="676656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B8C7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78024" y="5349240"/>
            <a:ext cx="1216152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102040"/>
                </a:solidFill>
                <a:latin typeface="Calibri"/>
              </a:rPr>
              <a:t>Ансамбль</a:t>
            </a:r>
          </a:p>
          <a:p>
            <a:pPr algn="ctr"/>
            <a:r>
              <a:rPr sz="1100" b="1" i="0">
                <a:solidFill>
                  <a:srgbClr val="102040"/>
                </a:solidFill>
                <a:latin typeface="Calibri"/>
              </a:rPr>
              <a:t>3 LLM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5230368"/>
            <a:ext cx="1325880" cy="676656"/>
          </a:xfrm>
          <a:prstGeom prst="roundRect">
            <a:avLst/>
          </a:prstGeom>
          <a:solidFill>
            <a:srgbClr val="FEF7E0"/>
          </a:solidFill>
          <a:ln w="12700">
            <a:solidFill>
              <a:srgbClr val="B8C7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15383" y="5349240"/>
            <a:ext cx="1216152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102040"/>
                </a:solidFill>
                <a:latin typeface="Calibri"/>
              </a:rPr>
              <a:t>Hard /</a:t>
            </a:r>
          </a:p>
          <a:p>
            <a:pPr algn="ctr"/>
            <a:r>
              <a:rPr sz="1100" b="1" i="0">
                <a:solidFill>
                  <a:srgbClr val="102040"/>
                </a:solidFill>
                <a:latin typeface="Calibri"/>
              </a:rPr>
              <a:t>Anchor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61888" y="5230368"/>
            <a:ext cx="1325880" cy="676656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B8C7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16751" y="5349240"/>
            <a:ext cx="1216152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102040"/>
                </a:solidFill>
                <a:latin typeface="Calibri"/>
              </a:rPr>
              <a:t>MAP-Elites</a:t>
            </a:r>
          </a:p>
          <a:p>
            <a:pPr algn="ctr"/>
            <a:r>
              <a:rPr sz="1100" b="1" i="0">
                <a:solidFill>
                  <a:srgbClr val="102040"/>
                </a:solidFill>
                <a:latin typeface="Calibri"/>
              </a:rPr>
              <a:t>mutation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5230368"/>
            <a:ext cx="1325880" cy="676656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B8C7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5349240"/>
            <a:ext cx="1216152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102040"/>
                </a:solidFill>
                <a:latin typeface="Calibri"/>
              </a:rPr>
              <a:t>Updated</a:t>
            </a:r>
          </a:p>
          <a:p>
            <a:pPr algn="ctr"/>
            <a:r>
              <a:rPr sz="1100" b="1" i="0">
                <a:solidFill>
                  <a:srgbClr val="102040"/>
                </a:solidFill>
                <a:latin typeface="Calibri"/>
              </a:rPr>
              <a:t>prompt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02368" y="5230368"/>
            <a:ext cx="1325880" cy="676656"/>
          </a:xfrm>
          <a:prstGeom prst="roundRect">
            <a:avLst/>
          </a:prstGeom>
          <a:solidFill>
            <a:srgbClr val="FCE8E6"/>
          </a:solidFill>
          <a:ln w="12700">
            <a:solidFill>
              <a:srgbClr val="B8C7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57232" y="5349240"/>
            <a:ext cx="1216152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102040"/>
                </a:solidFill>
                <a:latin typeface="Calibri"/>
              </a:rPr>
              <a:t>OOD</a:t>
            </a:r>
          </a:p>
          <a:p>
            <a:pPr algn="ctr"/>
            <a:r>
              <a:rPr sz="1100" b="1" i="0">
                <a:solidFill>
                  <a:srgbClr val="102040"/>
                </a:solidFill>
                <a:latin typeface="Calibri"/>
              </a:rPr>
              <a:t>test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039112" y="5568696"/>
            <a:ext cx="384048" cy="0"/>
          </a:xfrm>
          <a:prstGeom prst="line">
            <a:avLst/>
          </a:prstGeom>
          <a:ln w="2540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749039" y="5568696"/>
            <a:ext cx="411481" cy="0"/>
          </a:xfrm>
          <a:prstGeom prst="line">
            <a:avLst/>
          </a:prstGeom>
          <a:ln w="2540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486400" y="5568696"/>
            <a:ext cx="475488" cy="0"/>
          </a:xfrm>
          <a:prstGeom prst="line">
            <a:avLst/>
          </a:prstGeom>
          <a:ln w="2540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287768" y="5568696"/>
            <a:ext cx="713232" cy="0"/>
          </a:xfrm>
          <a:prstGeom prst="line">
            <a:avLst/>
          </a:prstGeom>
          <a:ln w="2540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326880" y="5568696"/>
            <a:ext cx="475488" cy="0"/>
          </a:xfrm>
          <a:prstGeom prst="line">
            <a:avLst/>
          </a:prstGeom>
          <a:ln w="2540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5989320"/>
            <a:ext cx="1042416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цикл повторяется: новые ошибки снова попадают в Hard pool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272784"/>
            <a:ext cx="11183112" cy="2286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601968"/>
            <a:ext cx="9784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Продвинутые методы ML  •  Active Prompt Engineering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6601968"/>
            <a:ext cx="13258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новый слайд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